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11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14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47.png"/><Relationship Id="rId6" Type="http://schemas.openxmlformats.org/officeDocument/2006/relationships/image" Target="../media/image14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457825"/>
            <a:ext cx="11430000" cy="101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281237"/>
            <a:ext cx="3449984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619750"/>
            <a:ext cx="3682900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400" y="5619750"/>
            <a:ext cx="3683049" cy="857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5619750"/>
            <a:ext cx="3682900" cy="8572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67875" y="447675"/>
            <a:ext cx="2143125" cy="247650"/>
          </a:xfrm>
          <a:prstGeom prst="roundRect">
            <a:avLst>
              <a:gd name="adj" fmla="val 50000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2643187"/>
            <a:ext cx="11811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700" spc="-68" b="1" i="0" u="none">
                <a:solidFill>
                  <a:srgbClr val="FFFFFF"/>
                </a:solidFill>
                <a:latin typeface="Inter"/>
              </a:rPr>
              <a:t>Project Aegis: Unified ML-Driven Fraud Detection &amp; Deceptive Honeypot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3614737"/>
            <a:ext cx="7315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 Multi-Layer Fraud Prevention Platform for UPI and Card Payments Powered by Real-Time Telemetry CSV Pipelines, Behavioral Biometrics, and Active Deception.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1000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44100" y="495300"/>
            <a:ext cx="20045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34D399"/>
                </a:solidFill>
                <a:latin typeface="Inter"/>
              </a:rPr>
              <a:t>Status: 100% Core Engine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5781675"/>
            <a:ext cx="386290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972175"/>
            <a:ext cx="386290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Aayush Tripathi (590017378)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6162675"/>
            <a:ext cx="386290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Akhil Pundir (590016767) • Aryan Singh (590017232)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325" y="5781675"/>
            <a:ext cx="386307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spc="45" b="1" i="0" u="none">
                <a:solidFill>
                  <a:srgbClr val="818CF8"/>
                </a:solidFill>
                <a:latin typeface="Inter"/>
              </a:rPr>
              <a:t>CORE 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325" y="5972175"/>
            <a:ext cx="38630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XGBoost • Flask REST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325" y="6162675"/>
            <a:ext cx="386307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Haversine Physics • Levenshtein NLP • WebRTC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875" y="5781675"/>
            <a:ext cx="386290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spc="45" b="1" i="0" u="none">
                <a:solidFill>
                  <a:srgbClr val="34D399"/>
                </a:solidFill>
                <a:latin typeface="Inter"/>
              </a:rPr>
              <a:t>INTEGRATED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5972175"/>
            <a:ext cx="386290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monospace"/>
              </a:rPr>
              <a:t>4 Specialized Telemetry CSVs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6124575"/>
            <a:ext cx="386290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1.7ms Latency • Live Prototype Tested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38150"/>
            <a:ext cx="190500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6300" y="438150"/>
            <a:ext cx="309991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MAJOR PROJECT MID-TERM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609600"/>
            <a:ext cx="309991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School of Computer Science • UPES Dehradun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10062"/>
            <a:ext cx="52006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310062"/>
            <a:ext cx="5200650" cy="238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620375" y="571500"/>
            <a:ext cx="119062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2481262"/>
            <a:ext cx="5600700" cy="2266950"/>
          </a:xfrm>
          <a:prstGeom prst="roundRect">
            <a:avLst>
              <a:gd name="adj" fmla="val 67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2481262"/>
            <a:ext cx="5600700" cy="2266950"/>
          </a:xfrm>
          <a:prstGeom prst="roundRect">
            <a:avLst>
              <a:gd name="adj" fmla="val 67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076950"/>
            <a:ext cx="11430000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000" y="381000"/>
            <a:ext cx="7503318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01 / Introduction &amp; Problem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571500"/>
            <a:ext cx="119062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34675" y="609600"/>
            <a:ext cx="110632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System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6200775"/>
            <a:ext cx="736092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Algorithms Deployed: XGBoost Classifiers, Haversine Spacetime Velocity, Levenshtein Distance, Shannon Path Entropy.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248" y="6200775"/>
            <a:ext cx="181438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ui-monospace"/>
              </a:rPr>
              <a:t>REST API: JSON Payloads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47700"/>
            <a:ext cx="75033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Motivation, Vulnerabilities &amp; Telemetry Inputs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219825"/>
            <a:ext cx="14287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681287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0125" y="2719387"/>
            <a:ext cx="29027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DA4AF"/>
                </a:solidFill>
                <a:latin typeface="Inter"/>
              </a:rPr>
              <a:t>Technical Background &amp; Problem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681287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29425" y="2719387"/>
            <a:ext cx="33737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3C5FD"/>
                </a:solidFill>
                <a:latin typeface="Inter"/>
              </a:rPr>
              <a:t>Structured Dataset &amp; Telemetry Inputs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2757487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3138487"/>
            <a:ext cx="95250" cy="95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2475" y="3100387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Instant UPI Settlement Pressure: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Sub-second transactions leave zero room for post-facto chargeback retrieval.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3519487"/>
            <a:ext cx="95250" cy="95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2475" y="3481387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Human Coercion Exploits: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Scammers manipulate victims over calls into scanning gallery QR codes and entering valid PINs.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3900487"/>
            <a:ext cx="95250" cy="95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2475" y="3862387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Hard Decline Flaws: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Rule-based hard declines immediately alert fraudsters, prompting rapid SIM and proxy rotation.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6050" y="2757487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138487"/>
            <a:ext cx="85725" cy="95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250" y="3100387"/>
            <a:ext cx="50387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3C5FD"/>
                </a:solidFill>
                <a:latin typeface="Inter"/>
              </a:rPr>
              <a:t>honeypot_login_telemetry.csv: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2,000 synthetic rows tracking mouse entropy and typing dynamics.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529012"/>
            <a:ext cx="85725" cy="95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72250" y="3490912"/>
            <a:ext cx="50387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D8B4FE"/>
                </a:solidFill>
                <a:latin typeface="Inter"/>
              </a:rPr>
              <a:t>card_velocity_telemetry.csv: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2,000 rows calculating Haversine speed between POS coordinates.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919537"/>
            <a:ext cx="85725" cy="95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72250" y="3881437"/>
            <a:ext cx="50387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EE7B7"/>
                </a:solidFill>
                <a:latin typeface="Inter"/>
              </a:rPr>
              <a:t>unified_transaction_risk.csv: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5,000 rows fusing call state, screen sharing, and VPA similarity.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338637"/>
            <a:ext cx="24193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25" y="4338637"/>
            <a:ext cx="24193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338637"/>
            <a:ext cx="24193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4338637"/>
            <a:ext cx="24193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662237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2662237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2662237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9725" y="2662237"/>
            <a:ext cx="304800" cy="30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1000" y="6076950"/>
            <a:ext cx="11430000" cy="400050"/>
          </a:xfrm>
          <a:prstGeom prst="roundRect">
            <a:avLst>
              <a:gd name="adj" fmla="val 28571"/>
            </a:avLst>
          </a:prstGeom>
          <a:solidFill>
            <a:srgbClr val="020617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82275" y="571500"/>
            <a:ext cx="1228725" cy="2286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1000" y="2500312"/>
            <a:ext cx="2743200" cy="222885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10B981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76600" y="2500312"/>
            <a:ext cx="2743200" cy="222885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43F5E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2500312"/>
            <a:ext cx="2743200" cy="222885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82F6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67800" y="2500312"/>
            <a:ext cx="2743200" cy="222885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59E0B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381000"/>
            <a:ext cx="7328058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02 / Research Foundation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82275" y="571500"/>
            <a:ext cx="1228725" cy="2286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6575" y="609600"/>
            <a:ext cx="11501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Inter"/>
              </a:rPr>
              <a:t>Academic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" y="6200775"/>
            <a:ext cx="64627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Cited Literature: Chen &amp; Guestrin (2016), Levenshtein (1966), Sinnott (1984), Chawla et al. SMOTE (2002).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99" y="6200775"/>
            <a:ext cx="339189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818CF8"/>
                </a:solidFill>
                <a:latin typeface="ui-monospace"/>
              </a:rPr>
              <a:t>Inference: Tree ensembles fit tabular fraud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647700"/>
            <a:ext cx="732805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Literature Review &amp; Strategic SWOT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3043237"/>
            <a:ext cx="278225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6EE7B7"/>
                </a:solidFill>
                <a:latin typeface="Inter"/>
              </a:rPr>
              <a:t>Strengths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525" y="3043237"/>
            <a:ext cx="278225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DA4AF"/>
                </a:solidFill>
                <a:latin typeface="Inter"/>
              </a:rPr>
              <a:t>Weaknesses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3043237"/>
            <a:ext cx="278225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93C5FD"/>
                </a:solidFill>
                <a:latin typeface="Inter"/>
              </a:rPr>
              <a:t>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9725" y="3043237"/>
            <a:ext cx="278225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CD34D"/>
                </a:solidFill>
                <a:latin typeface="Inter"/>
              </a:rPr>
              <a:t>Threats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33099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Proportionate response engine prevents blanket lockouts.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25" y="3671887"/>
            <a:ext cx="278225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Transparent feature importances.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925" y="3881437"/>
            <a:ext cx="278225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Sub-2ms low latency scoring via XGBoost.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525" y="33099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Initial model trained on rule-labelled synthetic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525" y="367188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Novel scam vectors require rapid heuristic rules.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8525" y="4033837"/>
            <a:ext cx="278225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Cold-start user profile constraints.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4125" y="33099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Exploding UPI transaction volumes in India (&gt;14B/mo).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367188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RBI &amp; NPCI mandates for real-time fraud mitigation.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40338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Scalable API licensing to regional cooperative banks.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9725" y="33099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Attacker adaptation with human-in-the-loop bots.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9725" y="3671887"/>
            <a:ext cx="278225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Spoofed device-state indicators.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9725" y="3881437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DPDP Act 2023 compliance restrictions on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048375"/>
            <a:ext cx="11430000" cy="4286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82325" y="571500"/>
            <a:ext cx="82867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649140"/>
            <a:ext cx="11430000" cy="731043"/>
          </a:xfrm>
          <a:prstGeom prst="roundRect">
            <a:avLst>
              <a:gd name="adj" fmla="val 15635"/>
            </a:avLst>
          </a:prstGeom>
          <a:solidFill>
            <a:srgbClr val="1E3A8A">
              <a:alpha val="40000"/>
            </a:srgbClr>
          </a:solidFill>
          <a:ln w="9525">
            <a:solidFill>
              <a:srgbClr val="60A5F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3532584"/>
            <a:ext cx="2743200" cy="1019175"/>
          </a:xfrm>
          <a:prstGeom prst="roundRect">
            <a:avLst>
              <a:gd name="adj" fmla="val 1121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76600" y="3532584"/>
            <a:ext cx="2743200" cy="1019175"/>
          </a:xfrm>
          <a:prstGeom prst="roundRect">
            <a:avLst>
              <a:gd name="adj" fmla="val 11214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532584"/>
            <a:ext cx="2743200" cy="1019175"/>
          </a:xfrm>
          <a:prstGeom prst="roundRect">
            <a:avLst>
              <a:gd name="adj" fmla="val 1121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67800" y="3532584"/>
            <a:ext cx="2743200" cy="1019175"/>
          </a:xfrm>
          <a:prstGeom prst="roundRect">
            <a:avLst>
              <a:gd name="adj" fmla="val 11214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71856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03 / Project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82325" y="571500"/>
            <a:ext cx="82867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6625" y="609600"/>
            <a:ext cx="69008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Inter"/>
              </a:rPr>
              <a:t>Core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172200"/>
            <a:ext cx="3708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Sub-Objective 1: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Train 3 XGBoost classifiers on structured telemetry CSVs.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1750" y="6172200"/>
            <a:ext cx="3708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Sub-Objective 2: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Implement sub-15ms Haversine &amp; Levenshtein engines.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500" y="6172200"/>
            <a:ext cx="3708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Sub-Objective 3: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Build ghost session honeypot with WebRTC forensics.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647700"/>
            <a:ext cx="7185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Main Objectives &amp; Four-Tier Decision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2811065"/>
            <a:ext cx="11649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PRIMARY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3001565"/>
            <a:ext cx="11649075" cy="2166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Build a unified, explainable fraud detection platform that replaces hard-decline binary logic with proportionate, context-aware responses tailored to real-time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658" y="3656409"/>
            <a:ext cx="286988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658" y="3846909"/>
            <a:ext cx="28698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ui-monospace"/>
              </a:rPr>
              <a:t>P &lt; 0.30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825" y="4113609"/>
            <a:ext cx="2495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Instant, frictionless settlement for genuine trusted users.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3258" y="3656409"/>
            <a:ext cx="286988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FBBF24"/>
                </a:solidFill>
                <a:latin typeface="Inter"/>
              </a:rPr>
              <a:t>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3258" y="3846909"/>
            <a:ext cx="28698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ui-monospace"/>
              </a:rPr>
              <a:t>0.30 ≤ P ≤ 0.70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0425" y="4113609"/>
            <a:ext cx="2495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5-second mandatory countdown warning breaks social coercion.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858" y="3656409"/>
            <a:ext cx="286988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FB7185"/>
                </a:solidFill>
                <a:latin typeface="Inter"/>
              </a:rPr>
              <a:t>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858" y="3846909"/>
            <a:ext cx="28698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ui-monospace"/>
              </a:rPr>
              <a:t>P &gt; 0.70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6025" y="4113609"/>
            <a:ext cx="2495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Upstream API gateway rejection halts unauthorized payouts.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4458" y="3656409"/>
            <a:ext cx="286988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C084FC"/>
                </a:solidFill>
                <a:latin typeface="Inter"/>
              </a:rPr>
              <a:t>HONEYPOT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4458" y="3846909"/>
            <a:ext cx="28698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ui-monospace"/>
              </a:rPr>
              <a:t>Bot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1625" y="4113609"/>
            <a:ext cx="2495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>
                <a:solidFill>
                  <a:srgbClr val="CBD5E1"/>
                </a:solidFill>
                <a:latin typeface="Inter"/>
              </a:rPr>
              <a:t>2,400ms PoW tarpit drains proxy resources &amp; logs mules.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076950"/>
            <a:ext cx="11430000" cy="400050"/>
          </a:xfrm>
          <a:prstGeom prst="roundRect">
            <a:avLst>
              <a:gd name="adj" fmla="val 285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16331" y="571500"/>
            <a:ext cx="1394668" cy="2286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347912"/>
            <a:ext cx="11430000" cy="2533650"/>
          </a:xfrm>
          <a:prstGeom prst="roundRect">
            <a:avLst>
              <a:gd name="adj" fmla="val 45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83248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04 / Data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331" y="571500"/>
            <a:ext cx="1394668" cy="2286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30631" y="609600"/>
            <a:ext cx="134097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ui-monospace"/>
              </a:rPr>
              <a:t>Project CSV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200775"/>
            <a:ext cx="774430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Supplemental Data Files: </a:t>
            </a:r>
            <a:r>
              <a:rPr sz="900" b="1" i="0" u="none">
                <a:solidFill>
                  <a:srgbClr val="CBD5E1"/>
                </a:solidFill>
                <a:latin typeface="Inter"/>
              </a:rPr>
              <a:t>bot_telemetry_micro_samples.csv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(millisecond flight times) &amp; </a:t>
            </a:r>
            <a:r>
              <a:rPr sz="900" b="1" i="0" u="none">
                <a:solidFill>
                  <a:srgbClr val="CBD5E1"/>
                </a:solidFill>
                <a:latin typeface="Inter"/>
              </a:rPr>
              <a:t>fraud_labels.csv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(chargeback loop).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248" y="6200775"/>
            <a:ext cx="181438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ui-monospace"/>
              </a:rPr>
              <a:t>100% Traceable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47700"/>
            <a:ext cx="8324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Core Datasets: Named Telemetry CSV Architecture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0525" y="2357437"/>
          <a:ext cx="11410947" cy="2514600"/>
        </p:xfrm>
        <a:graphic>
          <a:graphicData uri="http://schemas.openxmlformats.org/drawingml/2006/table">
            <a:tbl>
              <a:tblPr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76896"/>
                <a:gridCol w="859184"/>
                <a:gridCol w="4993034"/>
                <a:gridCol w="348183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CSV File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Dataset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Key Telemetry Feature Attributes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Target Label &amp; Defense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60A5FA"/>
                          </a:solidFill>
                          <a:latin typeface="ui-monospace"/>
                        </a:rPr>
                        <a:t>honeypot_login_telemetry.csv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2,000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failed_attempts, typing_speed_similarity, mouse_movement_entropy, is_new_device, vpn_data_center_flag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BD5E1"/>
                          </a:solidFill>
                          <a:latin typeface="ui-sans-serif"/>
                        </a:rPr>
                        <a:t>target_honeypot_action:</a:t>
                      </a:r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 Detects automated bot ingress &amp; credential stuffers.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084FC"/>
                          </a:solidFill>
                          <a:latin typeface="ui-monospace"/>
                        </a:rPr>
                        <a:t>card_velocity_telemetry.csv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2,000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time_delta_seconds, distance_miles, required_speed_mph, merchant_risk_score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BD5E1"/>
                          </a:solidFill>
                          <a:latin typeface="ui-sans-serif"/>
                        </a:rPr>
                        <a:t>is_card_fraud:</a:t>
                      </a:r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 Enforces Haversine spacetime physics (speed &gt; 650 mph).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4D399"/>
                          </a:solidFill>
                          <a:latin typeface="ui-monospace"/>
                        </a:rPr>
                        <a:t>unified_transaction_risk.csv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5,000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screen_sharing_active, upi_brand_similarity, is_collect_request, sender_spam_score, travel_speed_mph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BD5E1"/>
                          </a:solidFill>
                          <a:latin typeface="ui-sans-serif"/>
                        </a:rPr>
                        <a:t>is_fraud:</a:t>
                      </a:r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 Real-time XGBoost scoring of UPI interaction semantics.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BF24"/>
                          </a:solidFill>
                          <a:latin typeface="ui-monospace"/>
                        </a:rPr>
                        <a:t>honeypot_session_forensics.csv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Live Ledger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webrtc_reflexive_ip, dwell_time_seconds, target_beneficiary_vpa, attempted_amount, simulated_error_code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BD5E1"/>
                          </a:solidFill>
                          <a:latin typeface="ui-sans-serif"/>
                        </a:rPr>
                        <a:t>Forensic Intel:</a:t>
                      </a:r>
                      <a:r>
                        <a:rPr sz="825" b="0" i="0" u="none">
                          <a:solidFill>
                            <a:srgbClr val="CBD5E1"/>
                          </a:solidFill>
                          <a:latin typeface="ui-sans-serif"/>
                        </a:rPr>
                        <a:t> Traps attacker IP and blacklists destination mule accounts.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686300"/>
            <a:ext cx="3282850" cy="2809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425" y="4686300"/>
            <a:ext cx="3282999" cy="2809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75" y="4686300"/>
            <a:ext cx="3282850" cy="2809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733800"/>
            <a:ext cx="328285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25" y="3548062"/>
            <a:ext cx="3282999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975" y="3733800"/>
            <a:ext cx="3282850" cy="952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696575" y="571500"/>
            <a:ext cx="1114425" cy="2286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000" y="2062162"/>
            <a:ext cx="3682900" cy="3105150"/>
          </a:xfrm>
          <a:prstGeom prst="roundRect">
            <a:avLst>
              <a:gd name="adj" fmla="val 368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4400" y="2062162"/>
            <a:ext cx="3683049" cy="3105150"/>
          </a:xfrm>
          <a:prstGeom prst="roundRect">
            <a:avLst>
              <a:gd name="adj" fmla="val 368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7950" y="2062162"/>
            <a:ext cx="3682900" cy="3105150"/>
          </a:xfrm>
          <a:prstGeom prst="roundRect">
            <a:avLst>
              <a:gd name="adj" fmla="val 368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6076950"/>
            <a:ext cx="1143000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000" y="381000"/>
            <a:ext cx="7864792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05 / Biometric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6575" y="571500"/>
            <a:ext cx="1114425" cy="2286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10875" y="609600"/>
            <a:ext cx="101869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3C5FD"/>
                </a:solidFill>
                <a:latin typeface="Inter"/>
              </a:rPr>
              <a:t>Passive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200775"/>
            <a:ext cx="661606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Client Privacy: Captures physics metadata only; raw passwords and sensitive inputs are never transmitted.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3248" y="6200775"/>
            <a:ext cx="181438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ui-monospace"/>
              </a:rPr>
              <a:t>DPDP Act 2023 Compliant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647700"/>
            <a:ext cx="786479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Behavioral Biometrics: Math &amp; Sensor Execution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6219825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2262187"/>
            <a:ext cx="38100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1025" y="2757487"/>
            <a:ext cx="37752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Mouse Path Entropy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3062287"/>
            <a:ext cx="32828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Human movement contains physiological micro-tremors across directional bins. Automated scripts travel in strict linear vectors.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4425" y="2262187"/>
            <a:ext cx="381000" cy="381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54425" y="2757487"/>
            <a:ext cx="37754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Keystroke Flight Dynamics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4425" y="3062287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Monitors inter-key latency via performance.now(). Automated autofill scripts inject strings with 0ms flight time.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7975" y="2262187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27975" y="2757487"/>
            <a:ext cx="37752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Web Worker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7975" y="3062287"/>
            <a:ext cx="32828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Telemetry calculation is decoupled from the main thread using circular ring buffers to maintain 60 FPS UI responsiveness.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2366962"/>
            <a:ext cx="133350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5325" y="38481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3C5FD"/>
                </a:solidFill>
                <a:latin typeface="ui-monospace"/>
              </a:rPr>
              <a:t>H(D) = -∑ p(bₖ) log₂ p(bₖ)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40386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ui-monospace"/>
              </a:rPr>
              <a:t>• Human: H = 2.40 to 3.80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325" y="42291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>
                <a:solidFill>
                  <a:srgbClr val="FB7185"/>
                </a:solidFill>
                <a:latin typeface="ui-monospace"/>
              </a:rPr>
              <a:t>• Bot: H &lt; 0.60 (Collinear Vector)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9675" y="2366962"/>
            <a:ext cx="19050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68725" y="3662362"/>
            <a:ext cx="35125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ui-monospace"/>
              </a:rPr>
              <a:t>T_Dwell = t_keyup - t_keydown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8725" y="3852862"/>
            <a:ext cx="35125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ui-monospace"/>
              </a:rPr>
              <a:t>T_Flight = t_keydown(i) - t_keyup(i-1)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8725" y="4043362"/>
            <a:ext cx="35125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>
                <a:solidFill>
                  <a:srgbClr val="FB7185"/>
                </a:solidFill>
                <a:latin typeface="ui-monospace"/>
              </a:rPr>
              <a:t>• Script Bot: T_Flight ≤ 2.5 ms (0ms Injection)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2750" y="2366962"/>
            <a:ext cx="171450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42275" y="38481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ui-monospace"/>
              </a:rPr>
              <a:t>• Circular Ring Buffer (128 samples)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2275" y="40386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ui-monospace"/>
              </a:rPr>
              <a:t>• Zero-Copy postMessage transfers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2275" y="42291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ui-monospace"/>
              </a:rPr>
              <a:t>• Web Worker isolated sandbox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2275" y="4419600"/>
            <a:ext cx="35123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34D399"/>
                </a:solidFill>
                <a:latin typeface="ui-monospace"/>
              </a:rPr>
              <a:t>• CPU Load: &lt; 0.4% Main Thread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10075"/>
            <a:ext cx="52006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410075"/>
            <a:ext cx="5200650" cy="238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6076950"/>
            <a:ext cx="11430000" cy="400050"/>
          </a:xfrm>
          <a:prstGeom prst="roundRect">
            <a:avLst>
              <a:gd name="adj" fmla="val 285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9375" y="571500"/>
            <a:ext cx="15716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381250"/>
            <a:ext cx="5600700" cy="2466975"/>
          </a:xfrm>
          <a:prstGeom prst="roundRect">
            <a:avLst>
              <a:gd name="adj" fmla="val 617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2381250"/>
            <a:ext cx="5600700" cy="2466975"/>
          </a:xfrm>
          <a:prstGeom prst="roundRect">
            <a:avLst>
              <a:gd name="adj" fmla="val 6177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817149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06 / Methodology &amp;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39375" y="571500"/>
            <a:ext cx="15716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53675" y="609600"/>
            <a:ext cx="154447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Inter"/>
              </a:rPr>
              <a:t>Timeline: Sep - 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6200775"/>
            <a:ext cx="75580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Development Lifecycle: Analysis → Data Generation → Model Training → Engines → Flask API → UI &amp; Honeypot →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9196" y="6200775"/>
            <a:ext cx="102554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34D399"/>
                </a:solidFill>
                <a:latin typeface="ui-monospace"/>
              </a:rPr>
              <a:t>SRS 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47700"/>
            <a:ext cx="81714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Incremental Prototype Model &amp; Completion Status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81275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125" y="2619375"/>
            <a:ext cx="254127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EE7B7"/>
                </a:solidFill>
                <a:latin typeface="Inter"/>
              </a:rPr>
              <a:t>Attained Deliverables (Done)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258127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29425" y="2619375"/>
            <a:ext cx="29027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3C5FD"/>
                </a:solidFill>
                <a:latin typeface="Inter"/>
              </a:rPr>
              <a:t>Pending Milestones (Next Sprint)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265747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019425"/>
            <a:ext cx="104775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3000375"/>
            <a:ext cx="568499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3 CSV Datasets: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Generated and validated 9,000 synthetic rows across login, card, and UPI.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248025"/>
            <a:ext cx="104775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2000" y="32289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3 XGBoost Models: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Trained classifiers with SMOTE class rebalancing and hyperparameter tuning.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629025"/>
            <a:ext cx="104775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36099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Mathematical Engines: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Implemented Haversine velocity and Levenshtein VPA matching modules.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010025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39909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>
                <a:solidFill>
                  <a:srgbClr val="CBD5E1"/>
                </a:solidFill>
                <a:latin typeface="Inter"/>
              </a:rPr>
              <a:t>Working Prototype: 9 Flask REST APIs, 5 UI portals, Chrome Bot Extension &amp; 100% test pass.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657475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019425"/>
            <a:ext cx="1047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91300" y="30003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Signed Mobile SDK Signals: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Hardware-backed cryptographic HMAC tagging of live camera QR optics.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400425"/>
            <a:ext cx="1047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91300" y="33813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Gateway Shadow Integration: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Production Envoy/Kong proxy configuration for transparent tarpit routing.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781425"/>
            <a:ext cx="104775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91300" y="376237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Mule Account Graph DB: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Deploying Neo4j to track multi-hop money laundering velocity across nodes.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4162425"/>
            <a:ext cx="104775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91300" y="4143375"/>
            <a:ext cx="556450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Production Hardening: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Dockerized orchestration and ONNX model runtime acceleration.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481512"/>
            <a:ext cx="3359050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325" y="4481512"/>
            <a:ext cx="3359199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875" y="4481512"/>
            <a:ext cx="3359050" cy="242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529012"/>
            <a:ext cx="3359050" cy="876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325" y="3529012"/>
            <a:ext cx="3359199" cy="876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875" y="3529012"/>
            <a:ext cx="3359050" cy="876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6076950"/>
            <a:ext cx="11430000" cy="400050"/>
          </a:xfrm>
          <a:prstGeom prst="roundRect">
            <a:avLst>
              <a:gd name="adj" fmla="val 285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84941" y="571500"/>
            <a:ext cx="1326058" cy="2286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1000" y="2343150"/>
            <a:ext cx="3682900" cy="2543175"/>
          </a:xfrm>
          <a:prstGeom prst="roundRect">
            <a:avLst>
              <a:gd name="adj" fmla="val 449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4400" y="2343150"/>
            <a:ext cx="3683049" cy="2543175"/>
          </a:xfrm>
          <a:prstGeom prst="roundRect">
            <a:avLst>
              <a:gd name="adj" fmla="val 449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27950" y="2343150"/>
            <a:ext cx="3682900" cy="2543175"/>
          </a:xfrm>
          <a:prstGeom prst="roundRect">
            <a:avLst>
              <a:gd name="adj" fmla="val 449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82850" y="2505075"/>
            <a:ext cx="619125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94500" y="2505075"/>
            <a:ext cx="581025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58326" y="2505075"/>
            <a:ext cx="990600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381000"/>
            <a:ext cx="924496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07 / System Implementation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84941" y="571500"/>
            <a:ext cx="1326058" cy="2286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99241" y="609600"/>
            <a:ext cx="126207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93C5FD"/>
                </a:solidFill>
                <a:latin typeface="ui-monospace"/>
              </a:rPr>
              <a:t>9 REST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6200775"/>
            <a:ext cx="5794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Core Libraries: </a:t>
            </a:r>
            <a:r>
              <a:rPr sz="900" b="1" i="0" u="none">
                <a:solidFill>
                  <a:srgbClr val="CBD5E1"/>
                </a:solidFill>
                <a:latin typeface="Inter"/>
              </a:rPr>
              <a:t>Flask, XGBoost, scikit-learn, NumPy, pandas, Gunicorn, csv, time, os, math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3128" y="6200775"/>
            <a:ext cx="2366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>
                <a:solidFill>
                  <a:srgbClr val="34D399"/>
                </a:solidFill>
                <a:latin typeface="ui-monospace"/>
              </a:rPr>
              <a:t>Live Demo: /demo &amp; Extension (8 Scenarios)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647700"/>
            <a:ext cx="924496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Working Model: REST APIs &amp; Microservices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2776537"/>
            <a:ext cx="386290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Client Telemetry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3043237"/>
            <a:ext cx="33590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Captures passive biometrics and submits JSON payloads via fetch() API.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325" y="2776537"/>
            <a:ext cx="38630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Risk Scoring Engines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325" y="3043237"/>
            <a:ext cx="33591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Orchestrates three XGBoost models with sub-15ms algorithmic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2776537"/>
            <a:ext cx="386290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Honeypot &amp; Forensics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875" y="3043237"/>
            <a:ext cx="33590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Isolates attackers in synthetic pods while capturing real IPs and mule accounts.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925" y="2526506"/>
            <a:ext cx="9091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Inter"/>
              </a:rPr>
              <a:t>SENSORS &amp;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82850" y="2505075"/>
            <a:ext cx="619125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9050" y="2524125"/>
            <a:ext cx="536733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5" y="36052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Mouse entropy buffer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125" y="37957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Keystroke flight times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125" y="39862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Telephony call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25" y="41767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Virtual display 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325" y="2526506"/>
            <a:ext cx="108442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FLASK API 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94500" y="2505075"/>
            <a:ext cx="581025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0700" y="2524125"/>
            <a:ext cx="492918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2525" y="3605212"/>
            <a:ext cx="368781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POST /api/v1/auth/login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2525" y="3795712"/>
            <a:ext cx="368781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POST /api/v1/upi/evaluate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2525" y="3986212"/>
            <a:ext cx="368781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POST /api/v1/card/verify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2525" y="4176712"/>
            <a:ext cx="368781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ui-monospace"/>
              </a:rPr>
              <a:t>• POST /api/v1/test-bot-sample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9875" y="2526506"/>
            <a:ext cx="92011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BBF24"/>
                </a:solidFill>
                <a:latin typeface="Inter"/>
              </a:rPr>
              <a:t>GHOST STATE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58326" y="2505075"/>
            <a:ext cx="990600" cy="195262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34526" y="2524125"/>
            <a:ext cx="9639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Redis Ephemeral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075" y="36052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CBD5E1"/>
                </a:solidFill>
                <a:latin typeface="ui-monospace"/>
              </a:rPr>
              <a:t>• Synthetic ledger balance (₹50k decoy)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075" y="37957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CBD5E1"/>
                </a:solidFill>
                <a:latin typeface="ui-monospace"/>
              </a:rPr>
              <a:t>• 2,400ms PoW tarpit stall challenge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075" y="39862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CBD5E1"/>
                </a:solidFill>
                <a:latin typeface="ui-monospace"/>
              </a:rPr>
              <a:t>• WebRTC STUN IP capture (103.21.14.88)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075" y="4176712"/>
            <a:ext cx="368764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CBD5E1"/>
                </a:solidFill>
                <a:latin typeface="ui-monospace"/>
              </a:rPr>
              <a:t>• Traps mule wire: mule_sweep01@okaxis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805487"/>
            <a:ext cx="2743200" cy="671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5805487"/>
            <a:ext cx="2743200" cy="671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805487"/>
            <a:ext cx="2743200" cy="671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5805487"/>
            <a:ext cx="2743200" cy="671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658475" y="571500"/>
            <a:ext cx="11525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2216943"/>
            <a:ext cx="11430000" cy="2524125"/>
          </a:xfrm>
          <a:prstGeom prst="roundRect">
            <a:avLst>
              <a:gd name="adj" fmla="val 45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97650" y="2616993"/>
            <a:ext cx="592633" cy="152400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7650" y="2931318"/>
            <a:ext cx="655439" cy="1524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97650" y="3245643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97650" y="3559968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97650" y="3874293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7650" y="4188618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650" y="4502943"/>
            <a:ext cx="655439" cy="152400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381000"/>
            <a:ext cx="762381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08 / Verification &amp;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58475" y="571500"/>
            <a:ext cx="11525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72775" y="609600"/>
            <a:ext cx="106251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Inter"/>
              </a:rPr>
              <a:t>Empirical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647700"/>
            <a:ext cx="76238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Attack Scenario Benchmark &amp; Model ROC-AUC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0525" y="2226468"/>
          <a:ext cx="11410948" cy="2505075"/>
        </p:xfrm>
        <a:graphic>
          <a:graphicData uri="http://schemas.openxmlformats.org/drawingml/2006/table">
            <a:tbl>
              <a:tblPr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33922"/>
                <a:gridCol w="3360985"/>
                <a:gridCol w="1236017"/>
                <a:gridCol w="1609725"/>
                <a:gridCol w="2870299"/>
              </a:tblGrid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Attack Test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Trigger Telemetry /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Evaluated 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Enforced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E2E8F0"/>
                          </a:solidFill>
                          <a:latin typeface="Inter"/>
                        </a:rPr>
                        <a:t>Target Defensive Outcome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1. Clean Genuine Payment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Normal biometrics, trusted device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4D399"/>
                          </a:solidFill>
                          <a:latin typeface="ui-monospace"/>
                        </a:rPr>
                        <a:t>0.0002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Zero friction settlement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2. Call + Gallery QR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AudioManager active, file stream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BF24"/>
                          </a:solidFill>
                          <a:latin typeface="ui-monospace"/>
                        </a:rPr>
                        <a:t>0.6200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Friction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5-second warning modal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3. Collect + Active 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Inbound pull request + live 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7185"/>
                          </a:solidFill>
                          <a:latin typeface="ui-monospace"/>
                        </a:rPr>
                        <a:t>0.9450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Halts coercive transfer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4. Screen Share + 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AnyDesk virtual display hook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7185"/>
                          </a:solidFill>
                          <a:latin typeface="ui-monospace"/>
                        </a:rPr>
                        <a:t>0.9920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Blinds PIN keypad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5. Typo-Squatted VPA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Levenshtein similarity ≥ 0.75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7185"/>
                          </a:solidFill>
                          <a:latin typeface="ui-monospace"/>
                        </a:rPr>
                        <a:t>0.8950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Flags brand impersonation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6. Impossible Travel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Haversine speed &gt; 650 mph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B7185"/>
                          </a:solidFill>
                          <a:latin typeface="ui-monospace"/>
                        </a:rPr>
                        <a:t>0.9840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94A3B8"/>
                          </a:solidFill>
                          <a:latin typeface="ui-sans-serif"/>
                        </a:rPr>
                        <a:t>Rejects physical spacetime break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3137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FFFFFF"/>
                          </a:solidFill>
                          <a:latin typeface="ui-sans-serif"/>
                        </a:rPr>
                        <a:t>7. Automated Bot 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CBD5E1"/>
                          </a:solidFill>
                          <a:latin typeface="ui-monospace"/>
                        </a:rPr>
                        <a:t>Mouse entropy &lt; 0.6, 0ms flight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C084FC"/>
                          </a:solidFill>
                          <a:latin typeface="ui-monospace"/>
                        </a:rPr>
                        <a:t>0.9960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ui-monospace"/>
                        </a:rPr>
                        <a:t>Honeypot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94A3B8"/>
                          </a:solidFill>
                          <a:latin typeface="ui-sans-serif"/>
                        </a:rPr>
                        <a:t>2,400ms PoW tarpit &amp; mule capture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17658" y="5929312"/>
            <a:ext cx="2869882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Login ROC-AUC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58" y="6086475"/>
            <a:ext cx="28698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350" b="1" i="0" u="none">
                <a:solidFill>
                  <a:srgbClr val="60A5FA"/>
                </a:solidFill>
                <a:latin typeface="Inter"/>
              </a:rPr>
              <a:t>0.9995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3258" y="5929312"/>
            <a:ext cx="2869882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Card Physics 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3258" y="6086475"/>
            <a:ext cx="28698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350" b="1" i="0" u="none">
                <a:solidFill>
                  <a:srgbClr val="C084FC"/>
                </a:solidFill>
                <a:latin typeface="Inter"/>
              </a:rPr>
              <a:t>1.0000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858" y="5929312"/>
            <a:ext cx="2869882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Unified UPI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858" y="6086475"/>
            <a:ext cx="28698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350" b="1" i="0" u="none">
                <a:solidFill>
                  <a:srgbClr val="34D399"/>
                </a:solidFill>
                <a:latin typeface="Inter"/>
              </a:rPr>
              <a:t>1.0000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4458" y="5929312"/>
            <a:ext cx="2869882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Average Inference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4458" y="6086475"/>
            <a:ext cx="28698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350" b="1" i="0" u="none">
                <a:solidFill>
                  <a:srgbClr val="FBBF24"/>
                </a:solidFill>
                <a:latin typeface="Inter"/>
              </a:rPr>
              <a:t>1.7 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97650" y="2616993"/>
            <a:ext cx="592633" cy="152400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3850" y="2636043"/>
            <a:ext cx="5062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EE7B7"/>
                </a:solidFill>
                <a:latin typeface="ui-monospace"/>
              </a:rPr>
              <a:t>Approve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650" y="2931318"/>
            <a:ext cx="655439" cy="1524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3850" y="2950368"/>
            <a:ext cx="57849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CD34D"/>
                </a:solidFill>
                <a:latin typeface="ui-monospace"/>
              </a:rPr>
              <a:t>Friction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97650" y="3245643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3850" y="3264693"/>
            <a:ext cx="36164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DA4AF"/>
                </a:solidFill>
                <a:latin typeface="ui-monospace"/>
              </a:rPr>
              <a:t>Block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97650" y="3559968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3850" y="3579018"/>
            <a:ext cx="36164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DA4AF"/>
                </a:solidFill>
                <a:latin typeface="ui-monospace"/>
              </a:rPr>
              <a:t>Block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97650" y="3874293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3850" y="3893343"/>
            <a:ext cx="36164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DA4AF"/>
                </a:solidFill>
                <a:latin typeface="ui-monospace"/>
              </a:rPr>
              <a:t>Block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97650" y="4188618"/>
            <a:ext cx="466873" cy="152400"/>
          </a:xfrm>
          <a:prstGeom prst="roundRect">
            <a:avLst>
              <a:gd name="adj" fmla="val 25000"/>
            </a:avLst>
          </a:prstGeom>
          <a:solidFill>
            <a:srgbClr val="F43F5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3850" y="4207668"/>
            <a:ext cx="36164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DA4AF"/>
                </a:solidFill>
                <a:latin typeface="ui-monospace"/>
              </a:rPr>
              <a:t>Block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97650" y="4502943"/>
            <a:ext cx="655439" cy="152400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3850" y="4521993"/>
            <a:ext cx="57849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D8B4FE"/>
                </a:solidFill>
                <a:latin typeface="ui-monospace"/>
              </a:rPr>
              <a:t>Honeypot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00537"/>
            <a:ext cx="52006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300537"/>
            <a:ext cx="5200650" cy="238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6076950"/>
            <a:ext cx="11430000" cy="400050"/>
          </a:xfrm>
          <a:prstGeom prst="roundRect">
            <a:avLst>
              <a:gd name="adj" fmla="val 28571"/>
            </a:avLst>
          </a:prstGeom>
          <a:solidFill>
            <a:srgbClr val="2563EB">
              <a:alpha val="20000"/>
            </a:srgbClr>
          </a:solidFill>
          <a:ln w="9525">
            <a:solidFill>
              <a:srgbClr val="3B82F6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72775" y="571500"/>
            <a:ext cx="10382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490787"/>
            <a:ext cx="5600700" cy="22479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2490787"/>
            <a:ext cx="5600700" cy="22479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684609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900" spc="45" b="1" i="0" u="none">
                <a:solidFill>
                  <a:srgbClr val="60A5FA"/>
                </a:solidFill>
                <a:latin typeface="Inter"/>
              </a:rPr>
              <a:t>09 / Conclusion &amp; Next Phase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72775" y="571500"/>
            <a:ext cx="1038225" cy="2286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7075" y="609600"/>
            <a:ext cx="93106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EE7B7"/>
                </a:solidFill>
                <a:latin typeface="Inter"/>
              </a:rPr>
              <a:t>Ready for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6200775"/>
            <a:ext cx="389953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Thank You! Questions, Feedback &amp; Live Demo Demonstration.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850" y="6200775"/>
            <a:ext cx="20264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Inter"/>
              </a:rPr>
              <a:t>Project Aegis • UPES Dehradun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47700"/>
            <a:ext cx="684609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Justification of Objectives &amp; Future Scope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90812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125" y="2728912"/>
            <a:ext cx="23331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EE7B7"/>
                </a:solidFill>
                <a:latin typeface="Inter"/>
              </a:rPr>
              <a:t>Justification of Objectives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2690812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29425" y="2728912"/>
            <a:ext cx="3286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3C5FD"/>
                </a:solidFill>
                <a:latin typeface="Inter"/>
              </a:rPr>
              <a:t>Future Scope &amp; Production Hardening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2767012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128962"/>
            <a:ext cx="114300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3109912"/>
            <a:ext cx="56630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>
                <a:solidFill>
                  <a:srgbClr val="CBD5E1"/>
                </a:solidFill>
                <a:latin typeface="Inter"/>
              </a:rPr>
              <a:t>All 8 Attack Scenarios Verified: Produced expected deterministic and proportional actions.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357562"/>
            <a:ext cx="114300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1525" y="3338512"/>
            <a:ext cx="5010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Unified Multi-Rail Pipeline: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Evaluates login, card, and UPI risk within a sub-2ms latency envelope.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738562"/>
            <a:ext cx="114300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1525" y="3719512"/>
            <a:ext cx="55973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>
                <a:solidFill>
                  <a:srgbClr val="CBD5E1"/>
                </a:solidFill>
                <a:latin typeface="Inter"/>
              </a:rPr>
              <a:t>Active Honeypot Tarpit: Stalls bot automation 2,400ms, extracting origin IPs &amp; mule VPAs.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767012"/>
            <a:ext cx="1714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128962"/>
            <a:ext cx="10477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91300" y="3109912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Mule Account Graph Intelligence: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Deploying Neo4j to freeze multi-hop beneficiary laundering networks.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509962"/>
            <a:ext cx="1047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91300" y="3490912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Signed Mobile SDK Signals: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Hardware-backed cryptographic HMAC tagging of live camera QR optics.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890962"/>
            <a:ext cx="1047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91300" y="3871912"/>
            <a:ext cx="50196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BD5E1"/>
                </a:solidFill>
                <a:latin typeface="Inter"/>
              </a:rPr>
              <a:t>Continuous Feedback Loop: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Ingesting bank dispute data into 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fraud_labels.csv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for drift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