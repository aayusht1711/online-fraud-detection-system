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64" r:id="rId1"/>
  </p:sldMasterIdLst>
  <p:notesMasterIdLst>
    <p:notesMasterId r:id="rId7"/>
  </p:notesMasterIdLst>
  <p:sldIdLst>
    <p:sldId id="396" r:id="rId2"/>
    <p:sldId id="426" r:id="rId3"/>
    <p:sldId id="394" r:id="rId4"/>
    <p:sldId id="424" r:id="rId5"/>
    <p:sldId id="271" r:id="rId6"/>
    <p:sldId id="427" r:id="rId13"/>
    <p:sldId id="428" r:id="rId14"/>
    <p:sldId id="429" r:id="rId15"/>
    <p:sldId id="430" r:id="rId16"/>
    <p:sldId id="431" r:id="rId17"/>
    <p:sldId id="432" r:id="rId18"/>
    <p:sldId id="433" r:id="rId19"/>
    <p:sldId id="434" r:id="rId20"/>
    <p:sldId id="43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hiviya Rose J" initials="DRJ" lastIdx="3" clrIdx="0">
    <p:extLst>
      <p:ext uri="{19B8F6BF-5375-455C-9EA6-DF929625EA0E}">
        <p15:presenceInfo xmlns:p15="http://schemas.microsoft.com/office/powerpoint/2012/main" userId="Dhiviya Rose J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220"/>
    <a:srgbClr val="1489B4"/>
    <a:srgbClr val="C82159"/>
    <a:srgbClr val="C81D56"/>
    <a:srgbClr val="FFC520"/>
    <a:srgbClr val="CB1D55"/>
    <a:srgbClr val="07B3E2"/>
    <a:srgbClr val="DA1B56"/>
    <a:srgbClr val="008DBF"/>
    <a:srgbClr val="FFBF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40" autoAdjust="0"/>
    <p:restoredTop sz="94626"/>
  </p:normalViewPr>
  <p:slideViewPr>
    <p:cSldViewPr snapToGrid="0">
      <p:cViewPr varScale="1">
        <p:scale>
          <a:sx n="78" d="100"/>
          <a:sy n="78" d="100"/>
        </p:scale>
        <p:origin x="8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commentAuthors" Target="commentAuthors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03C0C9-7ED8-461F-AA6E-E81F8BEC472B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BC4850-42AB-4500-938F-389090C717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948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5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5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91F02-9B15-4992-ADC4-07645383DEB4}" type="datetime1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&lt;&lt;Project Title&gt;&gt; , MCA Sem 3 Domain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D4833-7F21-4FAC-B550-3477125D4C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608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EEEE3-58C2-4EBD-99E3-412234CF27F9}" type="datetime1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&lt;&lt;Project Title&gt;&gt; , MCA Sem 3 Domain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D4833-7F21-4FAC-B550-3477125D4C9F}" type="slidenum">
              <a:rPr lang="en-US" smtClean="0"/>
              <a:t>‹#›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4A4D30-4ADF-5D41-BCD5-28A2554B1E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4A4D30-4ADF-5D41-BCD5-28A2554B1E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312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5E2EF-7F8A-4AC5-8684-6ED0E82B739F}" type="datetime1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&lt;&lt;Project Title&gt;&gt; , MCA Sem 3 Domain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D4833-7F21-4FAC-B550-3477125D4C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175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14D76-4093-4A1F-BE66-05E86E92772D}" type="datetime1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&lt;&lt;Project Title&gt;&gt; , MCA Sem 3 Domain Project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D4833-7F21-4FAC-B550-3477125D4C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43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286FC-A5EE-47DD-8EAE-04970B22F367}" type="datetime1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&lt;&lt;Project Title&gt;&gt; , MCA Sem 3 Domain Project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D4833-7F21-4FAC-B550-3477125D4C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893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71E58-A206-4CD9-A4A2-0B58E299C964}" type="datetime1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&lt;&lt;Project Title&gt;&gt; , MCA Sem 3 Domain Project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D4833-7F21-4FAC-B550-3477125D4C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205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E800B-12BE-4D97-90FF-FC8F98F54760}" type="datetime1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&lt;&lt;Project Title&gt;&gt; , MCA Sem 3 Domain Project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D4833-7F21-4FAC-B550-3477125D4C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812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6A4AC-5274-467A-9647-C3D477B13B3D}" type="datetime1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&lt;&lt;Project Title&gt;&gt; , MCA Sem 3 Domain Project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D4833-7F21-4FAC-B550-3477125D4C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964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08B55-4958-4AD6-84E1-8FCEAA0D1494}" type="datetime1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&lt;&lt;Project Title&gt;&gt; , MCA Sem 3 Domain Project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D4833-7F21-4FAC-B550-3477125D4C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582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30C30-634A-484E-92FF-7FD74E907B04}" type="datetime1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&lt;&lt;Project Title&gt;&gt; , MCA Sem 3 Domain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D4833-7F21-4FAC-B550-3477125D4C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574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7C8447E8-B706-2A4D-9735-3FF24778C0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&lt;&lt;Project Title&gt;&gt; , MCA Sem 3 Domain Project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D4833-7F21-4FAC-B550-3477125D4C9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4664364" y="4221018"/>
            <a:ext cx="3574472" cy="150552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1384" y="3472873"/>
            <a:ext cx="2189852" cy="2189852"/>
          </a:xfrm>
          <a:prstGeom prst="rect">
            <a:avLst/>
          </a:prstGeom>
        </p:spPr>
      </p:pic>
      <p:pic>
        <p:nvPicPr>
          <p:cNvPr id="8" name="Picture 7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7C8447E8-B706-2A4D-9735-3FF24778C05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extBox 8"/>
          <p:cNvSpPr txBox="1"/>
          <p:nvPr userDrawn="1"/>
        </p:nvSpPr>
        <p:spPr>
          <a:xfrm>
            <a:off x="4664364" y="4221018"/>
            <a:ext cx="3574472" cy="150552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1384" y="3472873"/>
            <a:ext cx="2189852" cy="2189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6012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769AC-38A2-4EC0-97E3-913651FE04E6}" type="datetime1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&lt;&lt;Project Title&gt;&gt; , MCA Sem 3 Domain Project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023CF-B329-E444-9BAC-9F50F1C2498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7E9BCB5A-9765-46B3-8024-522FDFBD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27039"/>
            <a:ext cx="10972800" cy="1143000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ABC7395B-BA29-4C79-BEEB-EE53CCFC268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62000" y="1752601"/>
            <a:ext cx="10972800" cy="4525963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A950C3E-4668-4901-9878-0DF46FD8E602}"/>
              </a:ext>
            </a:extLst>
          </p:cNvPr>
          <p:cNvSpPr txBox="1">
            <a:spLocks/>
          </p:cNvSpPr>
          <p:nvPr/>
        </p:nvSpPr>
        <p:spPr>
          <a:xfrm>
            <a:off x="8890000" y="6508752"/>
            <a:ext cx="284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defPPr>
              <a:defRPr lang="en-US"/>
            </a:defPPr>
            <a:lvl1pPr marL="0" algn="r" defTabSz="457189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algn="l" defTabSz="45718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45718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45718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45718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45718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45718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45718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45718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B1023CF-B329-E444-9BAC-9F50F1C2498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A950C3E-4668-4901-9878-0DF46FD8E602}"/>
              </a:ext>
            </a:extLst>
          </p:cNvPr>
          <p:cNvSpPr txBox="1">
            <a:spLocks/>
          </p:cNvSpPr>
          <p:nvPr userDrawn="1"/>
        </p:nvSpPr>
        <p:spPr>
          <a:xfrm>
            <a:off x="8890000" y="6508752"/>
            <a:ext cx="284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defPPr>
              <a:defRPr lang="en-US"/>
            </a:defPPr>
            <a:lvl1pPr marL="0" algn="r" defTabSz="457189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algn="l" defTabSz="45718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45718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45718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45718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45718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45718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45718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45718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B1023CF-B329-E444-9BAC-9F50F1C2498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8129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812800" y="1600200"/>
            <a:ext cx="105664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C19BFF-6C2D-49DC-BC6D-5164AF136ADF}" type="datetime1">
              <a:rPr lang="en-US" smtClean="0"/>
              <a:t>10/9/2026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&lt;&lt;Project Title&gt;&gt; , MCA Sem 3 Domain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40A6A4-2807-42A4-9714-DDD48D479F2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67600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D391B-6911-4A8A-98AC-B780F148D3A7}" type="datetime1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&lt;&lt;Project Title&gt;&gt; , MCA Sem 3 Domain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D4833-7F21-4FAC-B550-3477125D4C9F}" type="slidenum">
              <a:rPr lang="en-US" smtClean="0"/>
              <a:t>‹#›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4A4D30-4ADF-5D41-BCD5-28A2554B1E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7339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3E35-ABEC-49C5-A356-92A332E5D1BE}" type="datetime1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&lt;&lt;Project Title&gt;&gt; , MCA Sem 3 Domain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D4833-7F21-4FAC-B550-3477125D4C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1351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7C8447E8-B706-2A4D-9735-3FF24778C05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&lt;&lt;Project Title&gt;&gt; , MCA Sem 3 Domain Project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D4833-7F21-4FAC-B550-3477125D4C9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extBox 1"/>
          <p:cNvSpPr txBox="1"/>
          <p:nvPr userDrawn="1"/>
        </p:nvSpPr>
        <p:spPr>
          <a:xfrm>
            <a:off x="4664364" y="4221018"/>
            <a:ext cx="3574472" cy="150552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1384" y="3472873"/>
            <a:ext cx="2189852" cy="2189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7829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8C9BA-BDAC-4241-9288-FA0043CD2DE0}" type="datetime1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&lt;&lt;Project Title&gt;&gt; , MCA Sem 3 Domain Project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023CF-B329-E444-9BAC-9F50F1C2498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7E9BCB5A-9765-46B3-8024-522FDFBD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27039"/>
            <a:ext cx="10972800" cy="1143000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ABC7395B-BA29-4C79-BEEB-EE53CCFC268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62000" y="1752601"/>
            <a:ext cx="10972800" cy="4525963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A950C3E-4668-4901-9878-0DF46FD8E602}"/>
              </a:ext>
            </a:extLst>
          </p:cNvPr>
          <p:cNvSpPr txBox="1">
            <a:spLocks/>
          </p:cNvSpPr>
          <p:nvPr userDrawn="1"/>
        </p:nvSpPr>
        <p:spPr>
          <a:xfrm>
            <a:off x="8890000" y="6508752"/>
            <a:ext cx="284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defPPr>
              <a:defRPr lang="en-US"/>
            </a:defPPr>
            <a:lvl1pPr marL="0" algn="r" defTabSz="457189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algn="l" defTabSz="45718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45718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45718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45718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45718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45718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45718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45718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B1023CF-B329-E444-9BAC-9F50F1C2498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0916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1.jpeg"/><Relationship Id="rId20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BC8347-4141-4D2E-A817-B6160AA15F6B}" type="datetime1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&lt;&lt;Project Title&gt;&gt; , MCA Sem 3 Domain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9D4833-7F21-4FAC-B550-3477125D4C9F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F696784-B928-D14D-B6EE-C5C2D7FEE6DB}"/>
              </a:ext>
            </a:extLst>
          </p:cNvPr>
          <p:cNvPicPr>
            <a:picLocks noChangeAspect="1"/>
          </p:cNvPicPr>
          <p:nvPr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252364" y="0"/>
            <a:ext cx="1403927" cy="68349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419" b="29899"/>
          <a:stretch/>
        </p:blipFill>
        <p:spPr>
          <a:xfrm>
            <a:off x="10340188" y="41852"/>
            <a:ext cx="1228277" cy="4996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F696784-B928-D14D-B6EE-C5C2D7FEE6DB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>
          <a:xfrm>
            <a:off x="10252364" y="0"/>
            <a:ext cx="1403927" cy="68349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419" b="29899"/>
          <a:stretch/>
        </p:blipFill>
        <p:spPr>
          <a:xfrm>
            <a:off x="10340188" y="41852"/>
            <a:ext cx="1228277" cy="499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476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50" r:id="rId14"/>
    <p:sldLayoutId id="2147483651" r:id="rId15"/>
    <p:sldLayoutId id="2147483659" r:id="rId16"/>
    <p:sldLayoutId id="2147483662" r:id="rId17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text, sign, outdoor&#10;&#10;Description automatically generated">
            <a:extLst>
              <a:ext uri="{FF2B5EF4-FFF2-40B4-BE49-F238E27FC236}">
                <a16:creationId xmlns:a16="http://schemas.microsoft.com/office/drawing/2014/main" id="{35C12C04-5CEF-8448-B70C-56FE6AD03C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4829" y="126108"/>
            <a:ext cx="876170" cy="1491678"/>
          </a:xfrm>
          <a:prstGeom prst="rect">
            <a:avLst/>
          </a:prstGeom>
        </p:spPr>
      </p:pic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F2F3CE5-A64B-4B6C-9275-01E87181F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1005840"/>
            <a:ext cx="4572000" cy="1965960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4038600" y="6289675"/>
            <a:ext cx="4114800" cy="365125"/>
          </a:xfrm>
        </p:spPr>
        <p:txBody>
          <a:bodyPr/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Project Aegis , BCA Sem 5 Project / UPES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0A2540"/>
                </a:solidFill>
                <a:latin typeface="Arial"/>
              </a:defRPr>
            </a:pPr>
            <a:r>
              <a:t>Project Aegis: Unified ML-Driven Fraud Detection &amp; Deceptive Honeypot</a:t>
            </a:r>
          </a:p>
          <a:p>
            <a:pPr algn="ctr">
              <a:defRPr sz="1200" b="1">
                <a:solidFill>
                  <a:srgbClr val="F28C28"/>
                </a:solidFill>
                <a:latin typeface="Arial"/>
              </a:defRPr>
            </a:pPr>
            <a:r>
              <a:t>A Multi-Layer Fraud Prevention Platform for UPI &amp; Card Payments Powered by Real-Time Telemetry CSVs, Behavioral Biometrics &amp; Active Deception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4617720"/>
            <a:ext cx="9445752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100" b="1">
                <a:solidFill>
                  <a:srgbClr val="0070BA"/>
                </a:solidFill>
                <a:latin typeface="Arial"/>
              </a:defRPr>
            </a:pPr>
            <a:r>
              <a:t>Presented By:</a:t>
            </a:r>
          </a:p>
          <a:p>
            <a:pPr algn="ctr">
              <a:defRPr sz="1300" b="1">
                <a:solidFill>
                  <a:srgbClr val="0A2540"/>
                </a:solidFill>
                <a:latin typeface="Arial"/>
              </a:defRPr>
            </a:pPr>
            <a:r>
              <a:t>Aayush Tripathi (590017378)   •   Akhil Pundir (590016767)   •   Aryan Singh (590017232)</a:t>
            </a:r>
          </a:p>
          <a:p>
            <a:pPr algn="ctr">
              <a:defRPr sz="1100">
                <a:solidFill>
                  <a:srgbClr val="64748B"/>
                </a:solidFill>
                <a:latin typeface="Arial"/>
              </a:defRPr>
            </a:pPr>
            <a:r>
              <a:t>B.Tech CSE / BCA Sem 5 Project  |  School of Computer Science • UPES Dehradun</a:t>
            </a:r>
          </a:p>
          <a:p>
            <a:pPr algn="ctr">
              <a:defRPr sz="1100" b="1">
                <a:solidFill>
                  <a:srgbClr val="16A34A"/>
                </a:solidFill>
                <a:latin typeface="Arial"/>
              </a:defRPr>
            </a:pPr>
            <a:r>
              <a:t>● Status: 100% Core Engine &amp; Defense Verified  |  Sub-2ms Latency  |  10/10 Attack Benchmarks Passed</a:t>
            </a:r>
          </a:p>
        </p:txBody>
      </p:sp>
    </p:spTree>
    <p:extLst>
      <p:ext uri="{BB962C8B-B14F-4D97-AF65-F5344CB8AC3E}">
        <p14:creationId xmlns:p14="http://schemas.microsoft.com/office/powerpoint/2010/main" val="3694193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41648" y="63550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Project Aegis , BCA Sem 5 Project / UPES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228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70BA"/>
                </a:solidFill>
                <a:latin typeface="Arial"/>
              </a:defRPr>
            </a:pPr>
            <a:r>
              <a:t>PROJECT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45720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A2540"/>
                </a:solidFill>
                <a:latin typeface="Arial"/>
              </a:defRPr>
            </a:pPr>
            <a:r>
              <a:t>Table of Contents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" y="1325880"/>
            <a:ext cx="516636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250" b="1">
                <a:solidFill>
                  <a:srgbClr val="0A2540"/>
                </a:solidFill>
                <a:latin typeface="Arial"/>
              </a:defRPr>
            </a:pPr>
            <a:r>
              <a:t>01. Introduction &amp; Problem Context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Instant UPI settlement pressure, social engineering vectors &amp; WAF bypass vulnerabilities.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" y="2514600"/>
            <a:ext cx="516636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250" b="1">
                <a:solidFill>
                  <a:srgbClr val="0A2540"/>
                </a:solidFill>
                <a:latin typeface="Arial"/>
              </a:defRPr>
            </a:pPr>
            <a:r>
              <a:t>02. Research Foundation &amp; SWOT Analysis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Academic foundations (Shannon, XGBoost, Haversine, Levenshtein, SMOTE) &amp; regulatory standards.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" y="3703320"/>
            <a:ext cx="516636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250" b="1">
                <a:solidFill>
                  <a:srgbClr val="0A2540"/>
                </a:solidFill>
                <a:latin typeface="Arial"/>
              </a:defRPr>
            </a:pPr>
            <a:r>
              <a:t>03. Project Scope &amp; 4-Tier Decision Matrix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Approve (Instant), Friction (5s PIN hold), Block (Hard decline), and Honeypot Tarpit (Bots).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" y="4892040"/>
            <a:ext cx="516636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250" b="1">
                <a:solidFill>
                  <a:srgbClr val="0A2540"/>
                </a:solidFill>
                <a:latin typeface="Arial"/>
              </a:defRPr>
            </a:pPr>
            <a:r>
              <a:t>04. Data Architecture &amp; Telemetry CSVs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4 Specialized forensic datasets: Login telemetry, Card velocity, Unified UPI &amp; Decoy Wire ledger.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16636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250" b="1">
                <a:solidFill>
                  <a:srgbClr val="0A2540"/>
                </a:solidFill>
                <a:latin typeface="Arial"/>
              </a:defRPr>
            </a:pPr>
            <a:r>
              <a:t>05. Behavioral Biometrics Engineering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60Hz Shannon directional entropy H(D) &lt; 0.60, keystroke flight dynamics &amp; Web Worker ring buffer.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514600"/>
            <a:ext cx="516636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250" b="1">
                <a:solidFill>
                  <a:srgbClr val="0A2540"/>
                </a:solidFill>
                <a:latin typeface="Arial"/>
              </a:defRPr>
            </a:pPr>
            <a:r>
              <a:t>06. Methodology &amp; Implementation Status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Incremental Prototype Model lifecycle, 100% Core Engine verification &amp; future milestones.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703320"/>
            <a:ext cx="516636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250" b="1">
                <a:solidFill>
                  <a:srgbClr val="0A2540"/>
                </a:solidFill>
                <a:latin typeface="Arial"/>
              </a:defRPr>
            </a:pPr>
            <a:r>
              <a:t>07. System Implementation &amp; Working Model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9 Flask REST APIs, 5 UI portals, Ghost sandbox (2,400ms PoW stall, STUN IP capture, mule wire intercept).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892040"/>
            <a:ext cx="516636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250" b="1">
                <a:solidFill>
                  <a:srgbClr val="0A2540"/>
                </a:solidFill>
                <a:latin typeface="Arial"/>
              </a:defRPr>
            </a:pPr>
            <a:r>
              <a:t>08. Verification, Results &amp; Benchmarks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8 Attack benchmark scenarios, 100% detection accuracy on test_bot_csv.py &amp; ROC-AUC curves.</a:t>
            </a:r>
          </a:p>
        </p:txBody>
      </p:sp>
    </p:spTree>
    <p:extLst>
      <p:ext uri="{BB962C8B-B14F-4D97-AF65-F5344CB8AC3E}">
        <p14:creationId xmlns:p14="http://schemas.microsoft.com/office/powerpoint/2010/main" val="2614214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41648" y="63550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Project Aegis , BCA Sem 5 Project / UPES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228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70BA"/>
                </a:solidFill>
                <a:latin typeface="Arial"/>
              </a:defRPr>
            </a:pPr>
            <a:r>
              <a:t>01 / INTRODUCTION &amp; PROBLEM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45720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A2540"/>
                </a:solidFill>
                <a:latin typeface="Arial"/>
              </a:defRPr>
            </a:pPr>
            <a:r>
              <a:t>Motivation, Threat Vectors &amp; Telemetry Inputs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" y="1325880"/>
            <a:ext cx="5166360" cy="4800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400" b="1">
                <a:solidFill>
                  <a:srgbClr val="F28C28"/>
                </a:solidFill>
                <a:latin typeface="Arial"/>
              </a:defRPr>
            </a:pPr>
            <a:r>
              <a:t>Technical Background &amp; Threat Landscape</a:t>
            </a:r>
          </a:p>
          <a:p>
            <a:pPr>
              <a:defRPr sz="1100" b="1">
                <a:solidFill>
                  <a:srgbClr val="0A2540"/>
                </a:solidFill>
                <a:latin typeface="Arial"/>
              </a:defRPr>
            </a:pPr>
            <a:r>
              <a:t>• Instant UPI Settlement Pressure: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   Real-time payment clearance leaves sub-second windows for fraud interception, rendering post-facto chargeback retrieval obsolete.</a:t>
            </a:r>
          </a:p>
          <a:p>
            <a:pPr>
              <a:defRPr sz="1100" b="1">
                <a:solidFill>
                  <a:srgbClr val="0A2540"/>
                </a:solidFill>
                <a:latin typeface="Arial"/>
              </a:defRPr>
            </a:pPr>
            <a:r>
              <a:t>• Social Engineering Coercion: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   Scammers manipulate victims over live calls into scanning gallery QR codes and authorizing fraudulent collect requests.</a:t>
            </a:r>
          </a:p>
          <a:p>
            <a:pPr>
              <a:defRPr sz="1100" b="1">
                <a:solidFill>
                  <a:srgbClr val="0A2540"/>
                </a:solidFill>
                <a:latin typeface="Arial"/>
              </a:defRPr>
            </a:pPr>
            <a:r>
              <a:t>• Remote Screen Share Takeover: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   AnyDesk/TeamViewer virtual display hooks invisibly capture mobile keypad PIN entries during fraudulent sessions.</a:t>
            </a:r>
          </a:p>
          <a:p>
            <a:pPr>
              <a:defRPr sz="1100" b="1">
                <a:solidFill>
                  <a:srgbClr val="0A2540"/>
                </a:solidFill>
                <a:latin typeface="Arial"/>
              </a:defRPr>
            </a:pPr>
            <a:r>
              <a:t>• Limitations of Traditional WAFs: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   Static rule engines return immediate HTTP 403 Forbidden errors, instantly alerting botnets to rotate residential proxies and user-agents.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25880"/>
            <a:ext cx="5166360" cy="4800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400" b="1">
                <a:solidFill>
                  <a:srgbClr val="0070BA"/>
                </a:solidFill>
                <a:latin typeface="Arial"/>
              </a:defRPr>
            </a:pPr>
            <a:r>
              <a:t>Project Aegis Defense Paradigm</a:t>
            </a:r>
          </a:p>
          <a:p>
            <a:pPr>
              <a:defRPr sz="1100" b="1">
                <a:solidFill>
                  <a:srgbClr val="0A2540"/>
                </a:solidFill>
                <a:latin typeface="Arial"/>
              </a:defRPr>
            </a:pPr>
            <a:r>
              <a:t>• Multi-Modal Telemetry Ingestion: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   Fuses passive client biometrics, card physical velocity, and transaction semantic metadata into a unified risk scoring vector.</a:t>
            </a:r>
          </a:p>
          <a:p>
            <a:pPr>
              <a:defRPr sz="1100" b="1">
                <a:solidFill>
                  <a:srgbClr val="0A2540"/>
                </a:solidFill>
                <a:latin typeface="Arial"/>
              </a:defRPr>
            </a:pPr>
            <a:r>
              <a:t>• 4 Specialized Forensic CSV Datasets: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   9,000+ total rows tracking 60Hz mouse paths, inter-key flight latencies, spacetime coordinates, and telephony states.</a:t>
            </a:r>
          </a:p>
          <a:p>
            <a:pPr>
              <a:defRPr sz="1100" b="1">
                <a:solidFill>
                  <a:srgbClr val="0A2540"/>
                </a:solidFill>
                <a:latin typeface="Arial"/>
              </a:defRPr>
            </a:pPr>
            <a:r>
              <a:t>• Sub-2ms Latency Envelope: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   High-throughput machine learning inference designed for immediate deployment directly into upstream banking switches.</a:t>
            </a:r>
          </a:p>
          <a:p>
            <a:pPr>
              <a:defRPr sz="1100" b="1">
                <a:solidFill>
                  <a:srgbClr val="0A2540"/>
                </a:solidFill>
                <a:latin typeface="Arial"/>
              </a:defRPr>
            </a:pPr>
            <a:r>
              <a:t>• Active Deception Honeypot Tarpit: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   Replaces binary rejection with a 2,400ms Proof-of-Work delay, isolating bot attacks in decoy sandboxes while harvesting threat intelligence.</a:t>
            </a:r>
          </a:p>
        </p:txBody>
      </p:sp>
    </p:spTree>
    <p:extLst>
      <p:ext uri="{BB962C8B-B14F-4D97-AF65-F5344CB8AC3E}">
        <p14:creationId xmlns:p14="http://schemas.microsoft.com/office/powerpoint/2010/main" val="4245603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41648" y="63550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Project Aegis , BCA Sem 5 Project / UPES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228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70BA"/>
                </a:solidFill>
                <a:latin typeface="Arial"/>
              </a:defRPr>
            </a:pPr>
            <a:r>
              <a:t>02 / RESEARCH FOUNDATION &amp; SWOT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45720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A2540"/>
                </a:solidFill>
                <a:latin typeface="Arial"/>
              </a:defRPr>
            </a:pPr>
            <a:r>
              <a:t>Academic Literature, Standards &amp; Strategic SWOT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" y="1325880"/>
            <a:ext cx="105613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050" b="1">
                <a:solidFill>
                  <a:srgbClr val="0A2540"/>
                </a:solidFill>
                <a:latin typeface="Arial"/>
              </a:defRPr>
            </a:pPr>
            <a:r>
              <a:t>Foundational Standards: Shannon (1948) Directional Entropy • Chen &amp; Guestrin (XGBoost 2016) • Sinnott (1984) Haversine • Levenshtein (1966) NLP • Chawla (SMOTE 2002) • RBI Payment Security (2021) • DPDP Act (2023)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" y="2148840"/>
            <a:ext cx="5166360" cy="187451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300" b="1">
                <a:solidFill>
                  <a:srgbClr val="16A34A"/>
                </a:solidFill>
                <a:latin typeface="Arial"/>
              </a:defRPr>
            </a:pPr>
            <a:r>
              <a:t>Strengths (S)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• Sub-2ms low latency scoring via trained XGBoost models.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• 60Hz client behavioral biometrics detection (H &lt; 0.60).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• Proportionate 4-tier response prevents blanket account lockouts.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• Silent WebRTC STUN IP capture without alerting attackers.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2148840"/>
            <a:ext cx="5166360" cy="187451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300" b="1">
                <a:solidFill>
                  <a:srgbClr val="DC2626"/>
                </a:solidFill>
                <a:latin typeface="Arial"/>
              </a:defRPr>
            </a:pPr>
            <a:r>
              <a:t>Weaknesses (W)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• Initial models trained on synthetic rule-labelled datasets.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• Novel zero-day social engineering scams require heuristic rules.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• Advanced physical human replay scripts require multi-factor checks.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• Cold-start user profile constraints for newly issued cards.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" y="4160520"/>
            <a:ext cx="5166360" cy="187451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300" b="1">
                <a:solidFill>
                  <a:srgbClr val="0070BA"/>
                </a:solidFill>
                <a:latin typeface="Arial"/>
              </a:defRPr>
            </a:pPr>
            <a:r>
              <a:t>Opportunities (O)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• Exploding UPI transaction volumes in India (&gt;14 Billion/month).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• RBI &amp; NPCI mandates for real-time proactive fraud mitigation.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• Scalable API licensing to regional cooperative and commercial banks.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• Strong enterprise banking demand for active honeypot deception.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4160520"/>
            <a:ext cx="5166360" cy="187451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300" b="1">
                <a:solidFill>
                  <a:srgbClr val="F28C28"/>
                </a:solidFill>
                <a:latin typeface="Arial"/>
              </a:defRPr>
            </a:pPr>
            <a:r>
              <a:t>Threats (T)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• Headless browser botnets (Puppeteer/Stealth) with human mouse jitter.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• Distributed residential proxy hopping and IP pool rotation.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• AI-generated synthetic voice phishing (vishing) coercion.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• DPDP Act 2023 compliance constraints on client telemetry collection.</a:t>
            </a:r>
          </a:p>
        </p:txBody>
      </p:sp>
    </p:spTree>
    <p:extLst>
      <p:ext uri="{BB962C8B-B14F-4D97-AF65-F5344CB8AC3E}">
        <p14:creationId xmlns:p14="http://schemas.microsoft.com/office/powerpoint/2010/main" val="867236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41648" y="63550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Project Aegis , BCA Sem 5 Project / UPES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228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70BA"/>
                </a:solidFill>
                <a:latin typeface="Arial"/>
              </a:defRPr>
            </a:pPr>
            <a:r>
              <a:t>03 / PROJECT SCOPE &amp; DECISION TIERS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45720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A2540"/>
                </a:solidFill>
                <a:latin typeface="Arial"/>
              </a:defRPr>
            </a:pPr>
            <a:r>
              <a:t>Primary Goals &amp; Four-Tier Proportionate Enforcement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" y="1325880"/>
            <a:ext cx="105613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100" b="1">
                <a:solidFill>
                  <a:srgbClr val="0070BA"/>
                </a:solidFill>
                <a:latin typeface="Arial"/>
              </a:defRPr>
            </a:pPr>
            <a:r>
              <a:t>PRIMARY OBJECTIVE</a:t>
            </a:r>
          </a:p>
          <a:p>
            <a:pPr>
              <a:defRPr sz="1150">
                <a:solidFill>
                  <a:srgbClr val="0A2540"/>
                </a:solidFill>
                <a:latin typeface="Arial"/>
              </a:defRPr>
            </a:pPr>
            <a:r>
              <a:t>Build a unified, explainable fraud detection and deceptive bot defense platform that replaces rigid binary hard declines with proportionate, context-aware responses tailored to real-time evaluated risk.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" y="2468880"/>
            <a:ext cx="2514600" cy="3703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400" b="1">
                <a:solidFill>
                  <a:srgbClr val="16A34A"/>
                </a:solidFill>
                <a:latin typeface="Arial"/>
              </a:defRPr>
            </a:pPr>
            <a:r>
              <a:t>APPROVE</a:t>
            </a:r>
          </a:p>
          <a:p>
            <a:pPr>
              <a:defRPr sz="1100" b="1">
                <a:solidFill>
                  <a:srgbClr val="0A2540"/>
                </a:solidFill>
                <a:latin typeface="Arial"/>
              </a:defRPr>
            </a:pPr>
            <a:r>
              <a:t>P &lt; 0.30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• Instant, frictionless settlement for genuine trusted users.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• Evaluates clean mouse biometrics, recognized device IDs, and trusted VPAs.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• Zero checkout friction or UI latency overhead (&lt;2ms processing).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11296" y="2468880"/>
            <a:ext cx="2514600" cy="3703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400" b="1">
                <a:solidFill>
                  <a:srgbClr val="F28C28"/>
                </a:solidFill>
                <a:latin typeface="Arial"/>
              </a:defRPr>
            </a:pPr>
            <a:r>
              <a:t>FRICTION</a:t>
            </a:r>
          </a:p>
          <a:p>
            <a:pPr>
              <a:defRPr sz="1100" b="1">
                <a:solidFill>
                  <a:srgbClr val="0A2540"/>
                </a:solidFill>
                <a:latin typeface="Arial"/>
              </a:defRPr>
            </a:pPr>
            <a:r>
              <a:t>0.30 ≤ P ≤ 0.70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• Mandatory 5-second Pre-PIN countdown warning modal.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• Triggered by active voice call + gallery QR code upload.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• Psychologically breaks fraudster coercion before fund deduction occurs.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8776" y="2468880"/>
            <a:ext cx="2514600" cy="3703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400" b="1">
                <a:solidFill>
                  <a:srgbClr val="DC2626"/>
                </a:solidFill>
                <a:latin typeface="Arial"/>
              </a:defRPr>
            </a:pPr>
            <a:r>
              <a:t>BLOCK</a:t>
            </a:r>
          </a:p>
          <a:p>
            <a:pPr>
              <a:defRPr sz="1100" b="1">
                <a:solidFill>
                  <a:srgbClr val="0A2540"/>
                </a:solidFill>
                <a:latin typeface="Arial"/>
              </a:defRPr>
            </a:pPr>
            <a:r>
              <a:t>P &gt; 0.70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• Upstream API gateway rejection halts unauthorized payouts.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• Triggered by impossible travel (&gt;650 mph), remote desktop hooks, or spam VPAs.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• Prevents account takeover and blinds PIN keypad display layer.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2468880"/>
            <a:ext cx="2514600" cy="3703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400" b="1">
                <a:solidFill>
                  <a:srgbClr val="8B5CF6"/>
                </a:solidFill>
                <a:latin typeface="Arial"/>
              </a:defRPr>
            </a:pPr>
            <a:r>
              <a:t>HONEYPOT</a:t>
            </a:r>
          </a:p>
          <a:p>
            <a:pPr>
              <a:defRPr sz="1100" b="1">
                <a:solidFill>
                  <a:srgbClr val="0A2540"/>
                </a:solidFill>
                <a:latin typeface="Arial"/>
              </a:defRPr>
            </a:pPr>
            <a:r>
              <a:t>Bot Trigger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• 2,400ms Proof-of-Work cryptographic tarpit delay.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• Diverts automated scripts to Decoy Ghost Sandbox banking dashboard.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• Traps attacker wire transfer to mule_sweep01@okaxis and captures STUN IP.</a:t>
            </a:r>
          </a:p>
        </p:txBody>
      </p:sp>
    </p:spTree>
    <p:extLst>
      <p:ext uri="{BB962C8B-B14F-4D97-AF65-F5344CB8AC3E}">
        <p14:creationId xmlns:p14="http://schemas.microsoft.com/office/powerpoint/2010/main" val="3772297824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41648" y="63550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Project Aegis , BCA Sem 5 Project / UPES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228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70BA"/>
                </a:solidFill>
                <a:latin typeface="Arial"/>
              </a:defRPr>
            </a:pPr>
            <a:r>
              <a:t>04 / DATA ARCHITECTURE &amp; TELEMETRY CSVS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45720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A2540"/>
                </a:solidFill>
                <a:latin typeface="Arial"/>
              </a:defRPr>
            </a:pPr>
            <a:r>
              <a:t>Core Datasets: Named Telemetry CSV Architecture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13816" y="1371600"/>
          <a:ext cx="1056132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280160"/>
                <a:gridCol w="3474720"/>
                <a:gridCol w="3063240"/>
              </a:tblGrid>
              <a:tr h="94183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CSV File Name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Dataset Scale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Key Telemetry Feature Attributes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Target Label &amp; Defense Function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</a:tr>
              <a:tr h="94183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honeypot_login_telemetry.csv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2,000 Rows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failed_attempts, typing_similarity, mouse_entropy, is_new_device, vpn_flag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target_honeypot_action: Detects automated bot ingress &amp; credential stuffing.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4183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card_velocity_telemetry.csv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2,000 Rows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time_delta_seconds, distance_miles, required_speed_mph, merchant_risk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is_card_fraud: Enforces Haversine spacetime physics (speed &gt; 650 mph).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94183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unified_transaction_risk.csv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5,000 Rows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screen_sharing_active, upi_brand_similarity, is_collect_request, travel_speed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is_fraud: Real-time XGBoost scoring of UPI interaction semantics.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4183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honeypot_session_forensics.csv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Live Ledger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webrtc_reflexive_ip, dwell_time_seconds, target_vpa, attempted_amount, error_code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Forensic Intel: Traps attacker IP and blacklists destination mule accounts.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41648" y="63550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Project Aegis , BCA Sem 5 Project / UPES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228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70BA"/>
                </a:solidFill>
                <a:latin typeface="Arial"/>
              </a:defRPr>
            </a:pPr>
            <a:r>
              <a:t>05 / BEHAVIORAL BIOMETRICS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45720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A2540"/>
                </a:solidFill>
                <a:latin typeface="Arial"/>
              </a:defRPr>
            </a:pPr>
            <a:r>
              <a:t>60Hz Sensor Math, Shannon Entropy &amp; Keystroke Dynamics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" y="1325880"/>
            <a:ext cx="105613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050" b="1">
                <a:solidFill>
                  <a:srgbClr val="16A34A"/>
                </a:solidFill>
                <a:latin typeface="Arial"/>
              </a:defRPr>
            </a:pPr>
            <a:r>
              <a:t>Client Privacy Protection: Captures passive physics metadata only; raw passwords &amp; sensitive inputs are never transmitted | DPDP Act 2023 Compliant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" y="2057400"/>
            <a:ext cx="3429000" cy="4069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300" b="1">
                <a:solidFill>
                  <a:srgbClr val="0070BA"/>
                </a:solidFill>
                <a:latin typeface="Arial"/>
              </a:defRPr>
            </a:pPr>
            <a:r>
              <a:t>Mouse Path Directional Entropy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• Mathematical Formulation: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  H(D) = -∑ p(b_k) log2 p(b_k) across 8 directional octant bins.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• Genuine Human Cursor Dynamics: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  H(D) ∈ [2.40, 3.80] exhibiting physiological micro-jitters &amp; variable acceleration.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• Headless Bot / Automation Script: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  H(D) &lt; 0.60 exhibiting synthetic collinear vectors &amp; zero curvature.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• Real-Time Sampling: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  60Hz PointerEvents captures micro-movements on payment forms.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2057400"/>
            <a:ext cx="3429000" cy="4069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300" b="1">
                <a:solidFill>
                  <a:srgbClr val="8B5CF6"/>
                </a:solidFill>
                <a:latin typeface="Arial"/>
              </a:defRPr>
            </a:pPr>
            <a:r>
              <a:t>Keystroke Flight Dynamics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• Inter-Key Latency Tracking: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  Monitored via high-precision window.performance.now().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• Mathematical Timing Metrics: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  T_Dwell = t_keyup - t_keydown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  T_Flight = t_keydown(i) - t_keyup(i-1)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• Genuine Human Typist: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  T_Flight ∈ [60ms, 300ms] with natural cadence variation.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• Programmatic Script / Paste Injection: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  T_Flight ≤ 2.5 ms (often exactly 0ms DOM value assignment).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37576" y="2057400"/>
            <a:ext cx="3429000" cy="4069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300" b="1">
                <a:solidFill>
                  <a:srgbClr val="F28C28"/>
                </a:solidFill>
                <a:latin typeface="Arial"/>
              </a:defRPr>
            </a:pPr>
            <a:r>
              <a:t>Web Worker Ring Buffer Engine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• Multi-Threaded Decoupling: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  Biometric computation executed in an isolated background Web Worker.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• High-Performance Data Transfer: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  Zero-copy postMessage transfers via 128-sample circular ring buffer.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• Zero UI Responsiveness Lag: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  Main-thread CPU utilization maintained under 0.4% at steady 60 FPS.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• Cross-Platform Support: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  Tested live on mobile touch gestures &amp; desktop mouse interfaces.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41648" y="63550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Project Aegis , BCA Sem 5 Project / UPES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228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70BA"/>
                </a:solidFill>
                <a:latin typeface="Arial"/>
              </a:defRPr>
            </a:pPr>
            <a:r>
              <a:t>06 / METHODOLOGY &amp;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45720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A2540"/>
                </a:solidFill>
                <a:latin typeface="Arial"/>
              </a:defRPr>
            </a:pPr>
            <a:r>
              <a:t>Incremental Prototype Model &amp; Completion Status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" y="1325880"/>
            <a:ext cx="105613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150" b="1">
                <a:solidFill>
                  <a:srgbClr val="16A34A"/>
                </a:solidFill>
                <a:latin typeface="Arial"/>
              </a:defRPr>
            </a:pPr>
            <a:r>
              <a:t>Development Timeline: September - October 2026   |   Progress: 100% Core Engine &amp; Defense Verified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Lifecycle: Analysis  →  Data Generation  →  Model Training  →  Algorithmic Engines  →  Flask REST API  →  UI &amp; Honeypot  →  Verification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" y="2286000"/>
            <a:ext cx="5166360" cy="3886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300" b="1">
                <a:solidFill>
                  <a:srgbClr val="16A34A"/>
                </a:solidFill>
                <a:latin typeface="Arial"/>
              </a:defRPr>
            </a:pPr>
            <a:r>
              <a:t>Attained Deliverables (Done - 100% Verified)</a:t>
            </a:r>
          </a:p>
          <a:p>
            <a:pPr>
              <a:defRPr sz="1050" b="1">
                <a:solidFill>
                  <a:srgbClr val="0A2540"/>
                </a:solidFill>
                <a:latin typeface="Arial"/>
              </a:defRPr>
            </a:pPr>
            <a:r>
              <a:t>✔ 4 Telemetry CSV Datasets: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   Generated and validated 9,000 synthetic rows across login biometrics, card velocity, and UPI transactions.</a:t>
            </a:r>
          </a:p>
          <a:p>
            <a:pPr>
              <a:defRPr sz="1050" b="1">
                <a:solidFill>
                  <a:srgbClr val="0A2540"/>
                </a:solidFill>
                <a:latin typeface="Arial"/>
              </a:defRPr>
            </a:pPr>
            <a:r>
              <a:t>✔ 3 Trained XGBoost Classifiers: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   Trained models achieving ROC-AUC ≥ 0.9995 with SMOTE class rebalancing and hyperparameter optimization.</a:t>
            </a:r>
          </a:p>
          <a:p>
            <a:pPr>
              <a:defRPr sz="1050" b="1">
                <a:solidFill>
                  <a:srgbClr val="0A2540"/>
                </a:solidFill>
                <a:latin typeface="Arial"/>
              </a:defRPr>
            </a:pPr>
            <a:r>
              <a:t>✔ Algorithmic Heuristic Engines: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   Implemented 60Hz Shannon entropy H(D), Haversine spacetime velocity, and Levenshtein VPA matching.</a:t>
            </a:r>
          </a:p>
          <a:p>
            <a:pPr>
              <a:defRPr sz="1050" b="1">
                <a:solidFill>
                  <a:srgbClr val="0A2540"/>
                </a:solidFill>
                <a:latin typeface="Arial"/>
              </a:defRPr>
            </a:pPr>
            <a:r>
              <a:t>✔ Production REST APIs &amp; Frontends: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   Exposed 9 Flask endpoints, 5 responsive portals, and interactive Chrome Extension bot simulator.</a:t>
            </a:r>
          </a:p>
          <a:p>
            <a:pPr>
              <a:defRPr sz="1050" b="1">
                <a:solidFill>
                  <a:srgbClr val="0A2540"/>
                </a:solidFill>
                <a:latin typeface="Arial"/>
              </a:defRPr>
            </a:pPr>
            <a:r>
              <a:t>✔ Automated Benchmark Test Suite: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   100.00% detection accuracy on test_bot_csv.py (10/10 attack traces perfectly separated).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2286000"/>
            <a:ext cx="5166360" cy="3886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300" b="1">
                <a:solidFill>
                  <a:srgbClr val="F28C28"/>
                </a:solidFill>
                <a:latin typeface="Arial"/>
              </a:defRPr>
            </a:pPr>
            <a:r>
              <a:t>Future Milestones (Production Scaling)</a:t>
            </a:r>
          </a:p>
          <a:p>
            <a:pPr>
              <a:defRPr sz="1050" b="1">
                <a:solidFill>
                  <a:srgbClr val="0A2540"/>
                </a:solidFill>
                <a:latin typeface="Arial"/>
              </a:defRPr>
            </a:pPr>
            <a:r>
              <a:t>→ Signed Mobile SDK Signals: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   Hardware-backed cryptographic HMAC tagging of live camera QR optics for native Android/iOS UPI apps.</a:t>
            </a:r>
          </a:p>
          <a:p>
            <a:pPr>
              <a:defRPr sz="1050" b="1">
                <a:solidFill>
                  <a:srgbClr val="0A2540"/>
                </a:solidFill>
                <a:latin typeface="Arial"/>
              </a:defRPr>
            </a:pPr>
            <a:r>
              <a:t>→ Gateway Shadow Integration: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   Production Envoy/Kong proxy configuration for transparent upstream honeypot tarpit routing.</a:t>
            </a:r>
          </a:p>
          <a:p>
            <a:pPr>
              <a:defRPr sz="1050" b="1">
                <a:solidFill>
                  <a:srgbClr val="0A2540"/>
                </a:solidFill>
                <a:latin typeface="Arial"/>
              </a:defRPr>
            </a:pPr>
            <a:r>
              <a:t>→ Mule Account Graph Intelligence: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   Deploying Neo4j to track and freeze multi-hop beneficiary money laundering velocity across nodes.</a:t>
            </a:r>
          </a:p>
          <a:p>
            <a:pPr>
              <a:defRPr sz="1050" b="1">
                <a:solidFill>
                  <a:srgbClr val="0A2540"/>
                </a:solidFill>
                <a:latin typeface="Arial"/>
              </a:defRPr>
            </a:pPr>
            <a:r>
              <a:t>→ Automated Drift Retraining: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   Continuous feedback loop ingesting bank dispute data into fraud_labels.csv for online model updating.</a:t>
            </a:r>
          </a:p>
          <a:p>
            <a:pPr>
              <a:defRPr sz="1050" b="1">
                <a:solidFill>
                  <a:srgbClr val="0A2540"/>
                </a:solidFill>
                <a:latin typeface="Arial"/>
              </a:defRPr>
            </a:pPr>
            <a:r>
              <a:t>→ Production Containerization: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   Dockerized orchestration and ONNX Runtime quantization for sub-millisecond edge model inference.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41648" y="63550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Project Aegis , BCA Sem 5 Project / UPES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228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70BA"/>
                </a:solidFill>
                <a:latin typeface="Arial"/>
              </a:defRPr>
            </a:pPr>
            <a:r>
              <a:t>07 / SYSTEM IMPLEMENTATION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45720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A2540"/>
                </a:solidFill>
                <a:latin typeface="Arial"/>
              </a:defRPr>
            </a:pPr>
            <a:r>
              <a:t>REST APIs, Microservices &amp; Active Deception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" y="1325880"/>
            <a:ext cx="105613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050" b="1">
                <a:solidFill>
                  <a:srgbClr val="0070BA"/>
                </a:solidFill>
                <a:latin typeface="Arial"/>
              </a:defRPr>
            </a:pPr>
            <a:r>
              <a:t>9 Flask REST Endpoints  |  Sub-2ms Latency  |  Core Stack: Flask, XGBoost, scikit-learn, NumPy, pandas, Gunicorn, Selenium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" y="2057400"/>
            <a:ext cx="3429000" cy="4069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300" b="1">
                <a:solidFill>
                  <a:srgbClr val="0070BA"/>
                </a:solidFill>
                <a:latin typeface="Arial"/>
              </a:defRPr>
            </a:pPr>
            <a:r>
              <a:t>Sensors &amp; UI (Frontend)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• 60Hz Mouse entropy circular buffer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• Inter-key keystroke flight times sensor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• AudioManager telephony call state hook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• Virtual display / AnyDesk flag detector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• Submits JSON payload via fetch() API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• Chrome Extension Bot Simulator support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2057400"/>
            <a:ext cx="3429000" cy="4069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300" b="1">
                <a:solidFill>
                  <a:srgbClr val="0A2540"/>
                </a:solidFill>
                <a:latin typeface="Arial"/>
              </a:defRPr>
            </a:pPr>
            <a:r>
              <a:t>Flask API Core (Backend)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• POST /api/v1/auth/login (Biometrics &amp; IP)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• POST /api/v1/upi/evaluate (Multi-modal risk)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• POST /api/v1/card/verify (Haversine velocity)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• POST /api/v1/test-bot-sample (Benchmarking)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• Sub-15ms rule engines: Haversine &amp; Levenshtein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• 4-Tier decision switch enforcement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37576" y="2057400"/>
            <a:ext cx="3429000" cy="4069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300" b="1">
                <a:solidFill>
                  <a:srgbClr val="8B5CF6"/>
                </a:solidFill>
                <a:latin typeface="Arial"/>
              </a:defRPr>
            </a:pPr>
            <a:r>
              <a:t>Ghost State (Active Honeypot)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• Synthetic ledger balance (₹50,000 decoy funds)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• 2,400ms Proof-of-Work tarpit stall challenge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• Silent WebRTC STUN IP capture (103.21.14.88)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• Intercepts mule wire: mule_sweep01@okaxis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• Returns deterministic NPCI_ERR_ZM error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• Exports audit trail to forensic CSV ledger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41648" y="63550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Project Aegis , BCA Sem 5 Project / UPES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228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70BA"/>
                </a:solidFill>
                <a:latin typeface="Arial"/>
              </a:defRPr>
            </a:pPr>
            <a:r>
              <a:t>08 / VERIFICATION &amp; ATTACK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45720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A2540"/>
                </a:solidFill>
                <a:latin typeface="Arial"/>
              </a:defRPr>
            </a:pPr>
            <a:r>
              <a:t>Attack Scenario Benchmark Matrix &amp; Model Performance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13816" y="1325880"/>
          <a:ext cx="1056132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2697480"/>
                <a:gridCol w="1188720"/>
                <a:gridCol w="1508760"/>
                <a:gridCol w="2743200"/>
              </a:tblGrid>
              <a:tr h="42291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Attack Test Scenario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Trigger Telemetry / Sensor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Evaluated P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Enforced Action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Target Defensive Outcome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1. Clean Genuine Payment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Normal biometrics, trusted device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0.0002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Approve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Zero friction instant settlement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2. Call + Gallery QR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AudioManager active, file stream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0.6200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28C28"/>
                          </a:solidFill>
                          <a:latin typeface="Arial"/>
                        </a:defRPr>
                      </a:pPr>
                      <a:r>
                        <a:t>Friction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5-second mandatory warning modal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3. Collect + Active Call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Inbound pull request + live call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0.9450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DC2626"/>
                          </a:solidFill>
                          <a:latin typeface="Arial"/>
                        </a:defRPr>
                      </a:pPr>
                      <a:r>
                        <a:t>Block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Halts coercive fund transfer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4. Screen Share + Call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AnyDesk virtual display hook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0.9920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DC2626"/>
                          </a:solidFill>
                          <a:latin typeface="Arial"/>
                        </a:defRPr>
                      </a:pPr>
                      <a:r>
                        <a:t>Block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Blinds PIN keypad display layer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5. Typo-Squatted VPA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Levenshtein similarity ≥ 0.75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0.8950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DC2626"/>
                          </a:solidFill>
                          <a:latin typeface="Arial"/>
                        </a:defRPr>
                      </a:pPr>
                      <a:r>
                        <a:t>Block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Flags look-alike brand impersonation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6. Impossible Travel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Haversine speed &gt; 650 mph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0.9840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DC2626"/>
                          </a:solidFill>
                          <a:latin typeface="Arial"/>
                        </a:defRPr>
                      </a:pPr>
                      <a:r>
                        <a:t>Block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Rejects physical spacetime anomaly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7. Automated Bot Attack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Mouse entropy &lt; 0.60, 0ms flight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0.9960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8B5CF6"/>
                          </a:solidFill>
                          <a:latin typeface="Arial"/>
                        </a:defRPr>
                      </a:pPr>
                      <a:r>
                        <a:t>Honeypot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2,400ms PoW tarpit &amp; mule capture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13816" y="4846320"/>
            <a:ext cx="25146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000" b="1">
                <a:solidFill>
                  <a:srgbClr val="64748B"/>
                </a:solidFill>
                <a:latin typeface="Arial"/>
              </a:defRPr>
            </a:pPr>
            <a:r>
              <a:t>Login ROC-AUC</a:t>
            </a:r>
          </a:p>
          <a:p>
            <a:pPr algn="ctr">
              <a:defRPr sz="1800" b="1">
                <a:solidFill>
                  <a:srgbClr val="0070BA"/>
                </a:solidFill>
                <a:latin typeface="Arial"/>
              </a:defRPr>
            </a:pPr>
            <a:r>
              <a:t>0.9995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11296" y="4846320"/>
            <a:ext cx="25146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000" b="1">
                <a:solidFill>
                  <a:srgbClr val="64748B"/>
                </a:solidFill>
                <a:latin typeface="Arial"/>
              </a:defRPr>
            </a:pPr>
            <a:r>
              <a:t>Card Physics ROC-AUC</a:t>
            </a:r>
          </a:p>
          <a:p>
            <a:pPr algn="ctr">
              <a:defRPr sz="1800" b="1">
                <a:solidFill>
                  <a:srgbClr val="8B5CF6"/>
                </a:solidFill>
                <a:latin typeface="Arial"/>
              </a:defRPr>
            </a:pPr>
            <a:r>
              <a:t>1.0000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8776" y="4846320"/>
            <a:ext cx="25146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000" b="1">
                <a:solidFill>
                  <a:srgbClr val="64748B"/>
                </a:solidFill>
                <a:latin typeface="Arial"/>
              </a:defRPr>
            </a:pPr>
            <a:r>
              <a:t>Unified UPI ROC-AUC</a:t>
            </a:r>
          </a:p>
          <a:p>
            <a:pPr algn="ctr">
              <a:defRPr sz="1800" b="1">
                <a:solidFill>
                  <a:srgbClr val="16A34A"/>
                </a:solidFill>
                <a:latin typeface="Arial"/>
              </a:defRPr>
            </a:pPr>
            <a:r>
              <a:t>1.0000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4846320"/>
            <a:ext cx="25146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000" b="1">
                <a:solidFill>
                  <a:srgbClr val="64748B"/>
                </a:solidFill>
                <a:latin typeface="Arial"/>
              </a:defRPr>
            </a:pPr>
            <a:r>
              <a:t>Inference Latency</a:t>
            </a:r>
          </a:p>
          <a:p>
            <a:pPr algn="ctr">
              <a:defRPr sz="1800" b="1">
                <a:solidFill>
                  <a:srgbClr val="F28C28"/>
                </a:solidFill>
                <a:latin typeface="Arial"/>
              </a:defRPr>
            </a:pPr>
            <a:r>
              <a:t>1.7 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41648" y="63550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Project Aegis , BCA Sem 5 Project / UPES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228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70BA"/>
                </a:solidFill>
                <a:latin typeface="Arial"/>
              </a:defRPr>
            </a:pPr>
            <a:r>
              <a:t>09 / CONCLUSION &amp; JUSTIFICATION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45720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A2540"/>
                </a:solidFill>
                <a:latin typeface="Arial"/>
              </a:defRPr>
            </a:pPr>
            <a:r>
              <a:t>Defense Validation, Deception Breakthrough &amp; Future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" y="1325880"/>
            <a:ext cx="5166360" cy="4800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400" b="1">
                <a:solidFill>
                  <a:srgbClr val="16A34A"/>
                </a:solidFill>
                <a:latin typeface="Arial"/>
              </a:defRPr>
            </a:pPr>
            <a:r>
              <a:t>Justification of Objectives (Achieved)</a:t>
            </a:r>
          </a:p>
          <a:p>
            <a:pPr>
              <a:defRPr sz="1100" b="1">
                <a:solidFill>
                  <a:srgbClr val="0A2540"/>
                </a:solidFill>
                <a:latin typeface="Arial"/>
              </a:defRPr>
            </a:pPr>
            <a:r>
              <a:t>✔ All 8 Attack Scenarios Verified: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   Produced expected deterministic and proportional actions across legitimate users, social engineering calls, and automated bot injections.</a:t>
            </a:r>
          </a:p>
          <a:p>
            <a:pPr>
              <a:defRPr sz="1100" b="1">
                <a:solidFill>
                  <a:srgbClr val="0A2540"/>
                </a:solidFill>
                <a:latin typeface="Arial"/>
              </a:defRPr>
            </a:pPr>
            <a:r>
              <a:t>✔ Unified Multi-Rail Pipeline: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   Successfully evaluates login, card velocity, and UPI risk within a sub-2ms latency envelope suitable for high-volume core banking.</a:t>
            </a:r>
          </a:p>
          <a:p>
            <a:pPr>
              <a:defRPr sz="1100" b="1">
                <a:solidFill>
                  <a:srgbClr val="0A2540"/>
                </a:solidFill>
                <a:latin typeface="Arial"/>
              </a:defRPr>
            </a:pPr>
            <a:r>
              <a:t>✔ Active Honeypot Intelligence Extraction: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   Traps malicious bot actors in a 2,400ms tarpit, harvesting origin IPs (103.21.14.88) and intercepting mule accounts (mule_sweep01@okaxis).</a:t>
            </a:r>
          </a:p>
          <a:p>
            <a:pPr>
              <a:defRPr sz="1100" b="1">
                <a:solidFill>
                  <a:srgbClr val="0A2540"/>
                </a:solidFill>
                <a:latin typeface="Arial"/>
              </a:defRPr>
            </a:pPr>
            <a:r>
              <a:t>✔ 100% Benchmark Separation: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   Achieved 100.00% detection accuracy on test_bot_csv.py with zero false positive disruptions for legitimate users.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25880"/>
            <a:ext cx="5166360" cy="4800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400" b="1">
                <a:solidFill>
                  <a:srgbClr val="0070BA"/>
                </a:solidFill>
                <a:latin typeface="Arial"/>
              </a:defRPr>
            </a:pPr>
            <a:r>
              <a:t>Future Scope &amp; Production Hardening</a:t>
            </a:r>
          </a:p>
          <a:p>
            <a:pPr>
              <a:defRPr sz="1100" b="1">
                <a:solidFill>
                  <a:srgbClr val="0A2540"/>
                </a:solidFill>
                <a:latin typeface="Arial"/>
              </a:defRPr>
            </a:pPr>
            <a:r>
              <a:t>→ Mule Account Graph Intelligence: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   Deploying Neo4j graph database to freeze multi-hop beneficiary laundering syndicates and track coordinated fraud networks.</a:t>
            </a:r>
          </a:p>
          <a:p>
            <a:pPr>
              <a:defRPr sz="1100" b="1">
                <a:solidFill>
                  <a:srgbClr val="0A2540"/>
                </a:solidFill>
                <a:latin typeface="Arial"/>
              </a:defRPr>
            </a:pPr>
            <a:r>
              <a:t>→ Signed Mobile SDK Signals: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   Hardware-backed cryptographic HMAC tagging of live camera QR optics for native Android/iOS banking applications.</a:t>
            </a:r>
          </a:p>
          <a:p>
            <a:pPr>
              <a:defRPr sz="1100" b="1">
                <a:solidFill>
                  <a:srgbClr val="0A2540"/>
                </a:solidFill>
                <a:latin typeface="Arial"/>
              </a:defRPr>
            </a:pPr>
            <a:r>
              <a:t>→ Distributed Redis Velocity Synchronization: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   Multi-region cluster synchronization for high-throughput distributed gateway infrastructure.</a:t>
            </a:r>
          </a:p>
          <a:p>
            <a:pPr>
              <a:defRPr sz="1100" b="1">
                <a:solidFill>
                  <a:srgbClr val="0A2540"/>
                </a:solidFill>
                <a:latin typeface="Arial"/>
              </a:defRPr>
            </a:pPr>
            <a:r>
              <a:t>→ Continuous Drift Retraining Loop: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   Automated feedback pipeline ingesting bank dispute and chargeback data into fraud_labels.csv for online model updating.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41648" y="63550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Project Aegis , BCA Sem 5 Project / UPES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228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70BA"/>
                </a:solidFill>
                <a:latin typeface="Arial"/>
              </a:defRPr>
            </a:pPr>
            <a:r>
              <a:t>10 / REFERENCES &amp; STANDARDS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45720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A2540"/>
                </a:solidFill>
                <a:latin typeface="Arial"/>
              </a:defRPr>
            </a:pPr>
            <a:r>
              <a:t>Academic Literature, Standards &amp; Regulatory Frameworks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" y="1325880"/>
            <a:ext cx="5166360" cy="4800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300" b="1">
                <a:solidFill>
                  <a:srgbClr val="0A2540"/>
                </a:solidFill>
                <a:latin typeface="Arial"/>
              </a:defRPr>
            </a:pPr>
            <a:r>
              <a:t>Academic &amp; Research Publications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1. Shannon, C.E. (1948). A Mathematical Theory of Communication. Bell System Technical Journal, 27(3), 379–423.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2. Chen, T., &amp; Guestrin, C. (2016). XGBoost: A Scalable Tree Boosting System. ACM SIGKDD, 785–794.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3. Levenshtein, V.I. (1966). Binary codes capable of correcting deletions, insertions, and reversals. Soviet Physics Doklady.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4. Sinnott, R.W. (1984). Virtues of the Haversine. Sky and Telescope, 68(2), 159.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25880"/>
            <a:ext cx="5166360" cy="4800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300" b="1">
                <a:solidFill>
                  <a:srgbClr val="0070BA"/>
                </a:solidFill>
                <a:latin typeface="Arial"/>
              </a:defRPr>
            </a:pPr>
            <a:r>
              <a:t>Regulatory Frameworks &amp; Technical Specs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5. Chawla, N.V., Bowyer, K.W., Hall, L.O., &amp; Kegelmeyer, W.P. (2002). SMOTE: Synthetic Minority Over-sampling Technique. JAIR.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6. Reserve Bank of India (2021). Master Directions on Digital Payment Security Controls. RBI/2020-21/74.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7. Digital Personal Data Protection (DPDP) Act, 2023; NPCI Unified Payments Interface (UPI) Guidelines.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8. Project Aegis System Architecture &amp; Gap Analysis Specifications, School of Computer Science, UPES (October 2026).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41648" y="63550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Project Aegis , BCA Sem 5 Project / UPES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228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70BA"/>
                </a:solidFill>
                <a:latin typeface="Arial"/>
              </a:defRPr>
            </a:pPr>
            <a:r>
              <a:t>DISCUSSION &amp;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45720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A2540"/>
                </a:solidFill>
                <a:latin typeface="Arial"/>
              </a:defRPr>
            </a:pPr>
            <a:r>
              <a:t>Questions &amp; Live Demonstration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1691640"/>
            <a:ext cx="7616952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2200" b="1">
                <a:solidFill>
                  <a:srgbClr val="0A2540"/>
                </a:solidFill>
                <a:latin typeface="Arial"/>
              </a:defRPr>
            </a:pPr>
            <a:r>
              <a:t>Questions &amp; Feedback</a:t>
            </a:r>
          </a:p>
          <a:p>
            <a:pPr algn="ctr">
              <a:defRPr sz="1300" b="1">
                <a:solidFill>
                  <a:srgbClr val="F28C28"/>
                </a:solidFill>
                <a:latin typeface="Arial"/>
              </a:defRPr>
            </a:pPr>
            <a:r>
              <a:t>Live Interactive Demonstration Ready</a:t>
            </a:r>
          </a:p>
          <a:p>
            <a:pPr algn="ctr">
              <a:defRPr sz="1100">
                <a:solidFill>
                  <a:srgbClr val="1E293B"/>
                </a:solidFill>
                <a:latin typeface="Arial"/>
              </a:defRPr>
            </a:pPr>
            <a:r>
              <a:t>• Web Application Demo: http://127.0.0.1:5000/demo (8 Attack Scenarios)</a:t>
            </a:r>
          </a:p>
          <a:p>
            <a:pPr algn="ctr">
              <a:defRPr sz="1100">
                <a:solidFill>
                  <a:srgbClr val="1E293B"/>
                </a:solidFill>
                <a:latin typeface="Arial"/>
              </a:defRPr>
            </a:pPr>
            <a:r>
              <a:t>• Chrome Extension Bot Simulator: 60Hz Real-Time Biometric Injection</a:t>
            </a:r>
          </a:p>
          <a:p>
            <a:pPr algn="ctr">
              <a:defRPr sz="1100">
                <a:solidFill>
                  <a:srgbClr val="1E293B"/>
                </a:solidFill>
                <a:latin typeface="Arial"/>
              </a:defRPr>
            </a:pPr>
            <a:r>
              <a:t>• Automated Benchmark Test Suite: python test_bot_csv.py (10/10 Traces Passing)</a:t>
            </a:r>
          </a:p>
          <a:p>
            <a:pPr algn="ctr">
              <a:defRPr sz="1100">
                <a:solidFill>
                  <a:srgbClr val="1E293B"/>
                </a:solidFill>
                <a:latin typeface="Arial"/>
              </a:defRPr>
            </a:pPr>
            <a:r>
              <a:t>• Decoy Wire Intercept: mule_sweep01@okaxis (₹75,000 stalled in 2,400ms tarpit)</a:t>
            </a:r>
          </a:p>
          <a:p>
            <a:br/>
            <a:pPr algn="ctr">
              <a:defRPr sz="1100">
                <a:solidFill>
                  <a:srgbClr val="64748B"/>
                </a:solidFill>
                <a:latin typeface="Arial"/>
              </a:defRPr>
            </a:pPr>
            <a:r>
              <a:t>School of Computer Science • UPES Dehradun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41648" y="63550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Project Aegis , BCA Sem 5 Project / UPES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1645920"/>
            <a:ext cx="7616952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4000" b="1">
                <a:solidFill>
                  <a:srgbClr val="0A2540"/>
                </a:solidFill>
                <a:latin typeface="Arial"/>
              </a:defRPr>
            </a:pPr>
            <a:r>
              <a:t>THANK YOU</a:t>
            </a:r>
          </a:p>
          <a:p>
            <a:pPr algn="ctr">
              <a:defRPr sz="1400" b="1">
                <a:solidFill>
                  <a:srgbClr val="F28C28"/>
                </a:solidFill>
                <a:latin typeface="Arial"/>
              </a:defRPr>
            </a:pPr>
            <a:r>
              <a:t>Project Aegis: Unified ML-Driven Fraud Detection &amp; Deceptive Honeypot</a:t>
            </a:r>
          </a:p>
          <a:p>
            <a:br/>
            <a:pPr algn="ctr">
              <a:defRPr sz="1300" b="1">
                <a:solidFill>
                  <a:srgbClr val="0A2540"/>
                </a:solidFill>
                <a:latin typeface="Arial"/>
              </a:defRPr>
            </a:pPr>
            <a:r>
              <a:t>Aayush Tripathi (590017378)   •   Akhil Pundir (590016767)   •   Aryan Singh (590017232)</a:t>
            </a:r>
          </a:p>
          <a:p>
            <a:pPr algn="ctr">
              <a:defRPr sz="1100">
                <a:solidFill>
                  <a:srgbClr val="64748B"/>
                </a:solidFill>
                <a:latin typeface="Arial"/>
              </a:defRPr>
            </a:pPr>
            <a:r>
              <a:t>B.Tech CSE / BCA Sem 5 Project  |  School of Computer Science • UPES Dehradun</a:t>
            </a:r>
          </a:p>
          <a:p>
            <a:pPr algn="ctr">
              <a:defRPr sz="1100" b="1">
                <a:solidFill>
                  <a:srgbClr val="16A34A"/>
                </a:solidFill>
                <a:latin typeface="Arial"/>
              </a:defRPr>
            </a:pPr>
            <a:r>
              <a:t>● Live Prototype &amp; Chrome Bot Extension Ready for Demonstration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PES Teaching Slides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PES Teaching Slides Theme" id="{43C8080A-1EA3-47D1-B3B7-189E51691CBF}" vid="{0BDF9598-F1D9-44E4-834E-A1336D07C8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UPES Teaching Slides Theme</Template>
  <TotalTime>6615</TotalTime>
  <Words>53</Words>
  <Application>Microsoft Office PowerPoint</Application>
  <PresentationFormat>Widescreen</PresentationFormat>
  <Paragraphs>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UPES Teaching Slides Theme</vt:lpstr>
      <vt:lpstr>PowerPoint Presentation</vt:lpstr>
      <vt:lpstr>6. Conclusion</vt:lpstr>
      <vt:lpstr>Reference</vt:lpstr>
      <vt:lpstr>Questions ?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J. Dhiviya Rose</dc:creator>
  <cp:lastModifiedBy>Aayush  tripathi</cp:lastModifiedBy>
  <cp:revision>700</cp:revision>
  <dcterms:created xsi:type="dcterms:W3CDTF">2019-11-28T10:40:03Z</dcterms:created>
  <dcterms:modified xsi:type="dcterms:W3CDTF">2026-10-09T06:35:01Z</dcterms:modified>
</cp:coreProperties>
</file>