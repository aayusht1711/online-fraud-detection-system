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Project Aegis as our major project. The goal is a unified fraud defence platform for UPI and card payments. It combines machine-learning risk scoring, contextual fraud signals, and a deceptive honeypot response. Briefly introduce the three team members and mentor.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follows the UPES mid-term structure. I will move quickly through the background and literature, then focus mainly on methodology, the working prototype, current results, and what remains for the end-term.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payments settle quickly, so fraud decisions must also be quick. Our project targets social-engineering scams and automated account takeover. We combine XGBoost with geographic velocity, VPA similarity, mouse behavior and context rules. Current training data is synthetic and APIs accept JSON inputs.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supports three choices: boosted trees for tabular fraud, edit-distance matching for deceptive VPAs, and geographic distance for impossible travel. Regulations also matter because deception and telemetry collection require safeguards. The SWOT shows strong prototype value, but synthetic data is the main limitation.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not simply to classify fraud. It is to choose a proportionate response. Low risk should pass, medium risk should add friction, high risk should block, and suspicious login automation can be diverted into a ghost-session honeypot. These five sub-objectives drive the implementation.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an incremental prototype approach. Each phase produces something testable before moving forward. By mid-term, roughly seventy percent of the code is complete: datasets, models, risk engines, APIs, web pages and honeypot are working. Production integrations and persistent intelligence remain pending.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working model. Browser inputs reach Flask through HTTP and JSON. Flask calls the trained models plus VPA and geographic engines. A decision switch selects approve, friction or block, while suspicious login automation can enter the honeypot. Current deliverables include eight endpoints and five web pages.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tests show the designed scenarios map to the expected actions. The three models also report very high ROC-AUC on our synthetic rule-labelled data. That number should not be presented as real-world accuracy; it mainly validates that the pipeline and labels are being learned correctly.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mid-term, the prototype meets its core functional objectives across the designed scenarios. The next phase is about realism and deployment: real labelled data, trusted mobile signals, gateway integration, graph-based mule detection, retraining, and a production-safe honeypot architecture.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principal references behind our technical choices and regulatory framing. We have not published a paper at this stage. The cited work covers boosted trees, string similarity, geographic distance, class imbalance, and Indian digital-payment security and privacy guidance.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If time permits, open the demo page and show one clean transaction, one contextual scam case, and the bot-login honeypot to demonstrate the proportionate response model.
[Sources]
User-provided project specifications and uploaded UPES presentation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Major Project</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914400" y="1051560"/>
            <a:ext cx="7315200" cy="457200"/>
          </a:xfrm>
          <a:prstGeom prst="rect">
            <a:avLst/>
          </a:prstGeom>
          <a:noFill/>
          <a:ln/>
        </p:spPr>
        <p:txBody>
          <a:bodyPr wrap="square" lIns="0" tIns="0" rIns="0" bIns="0" rtlCol="0" anchor="ctr"/>
          <a:lstStyle/>
          <a:p>
            <a:pPr algn="ctr" indent="0" marL="0">
              <a:buNone/>
            </a:pPr>
            <a:r>
              <a:rPr sz="2700" b="1">
                <a:solidFill>
                  <a:srgbClr val="12304A"/>
                </a:solidFill>
                <a:latin typeface="Arial"/>
              </a:rPr>
              <a:t>Project Aegis</a:t>
            </a:r>
            <a:endParaRPr lang="en-US" sz="2700" dirty="0"/>
          </a:p>
        </p:txBody>
      </p:sp>
      <p:sp>
        <p:nvSpPr>
          <p:cNvPr id="6" name="Text 3"/>
          <p:cNvSpPr/>
          <p:nvPr/>
        </p:nvSpPr>
        <p:spPr>
          <a:xfrm>
            <a:off x="960120" y="1645920"/>
            <a:ext cx="7223760" cy="777240"/>
          </a:xfrm>
          <a:prstGeom prst="rect">
            <a:avLst/>
          </a:prstGeom>
          <a:noFill/>
          <a:ln/>
        </p:spPr>
        <p:txBody>
          <a:bodyPr wrap="square" lIns="0" tIns="0" rIns="0" bIns="0" rtlCol="0" anchor="ctr"/>
          <a:lstStyle/>
          <a:p>
            <a:pPr algn="ctr" indent="0" marL="0">
              <a:buNone/>
            </a:pPr>
            <a:r>
              <a:rPr sz="1800" b="1">
                <a:solidFill>
                  <a:srgbClr val="F28C28"/>
                </a:solidFill>
                <a:latin typeface="Arial"/>
              </a:rPr>
              <a:t>A Unified ML-Driven Fraud Detection and Deceptive Honeypot</a:t>
            </a:r>
            <a:endParaRPr lang="en-US" sz="1800" dirty="0"/>
          </a:p>
          <a:p>
            <a:r>
              <a:rPr sz="1800" b="1">
                <a:solidFill>
                  <a:srgbClr val="F28C28"/>
                </a:solidFill>
                <a:latin typeface="Arial"/>
              </a:rPr>
              <a:t>Defence Platform for UPI and Card Payments</a:t>
            </a:r>
          </a:p>
        </p:txBody>
      </p:sp>
      <p:sp>
        <p:nvSpPr>
          <p:cNvPr id="7" name="Text 4"/>
          <p:cNvSpPr/>
          <p:nvPr/>
        </p:nvSpPr>
        <p:spPr>
          <a:xfrm>
            <a:off x="1097280" y="2606040"/>
            <a:ext cx="6949440" cy="274320"/>
          </a:xfrm>
          <a:prstGeom prst="rect">
            <a:avLst/>
          </a:prstGeom>
          <a:noFill/>
          <a:ln/>
        </p:spPr>
        <p:txBody>
          <a:bodyPr wrap="square" lIns="0" tIns="0" rIns="0" bIns="0" rtlCol="0" anchor="ctr"/>
          <a:lstStyle/>
          <a:p>
            <a:pPr algn="ctr" indent="0" marL="0">
              <a:buNone/>
            </a:pPr>
            <a:r>
              <a:rPr sz="1300" b="0">
                <a:solidFill>
                  <a:srgbClr val="444444"/>
                </a:solidFill>
                <a:latin typeface="Arial"/>
              </a:rPr>
              <a:t>B.Tech CSE | School of Computer Science | UPES Dehradun</a:t>
            </a:r>
            <a:endParaRPr lang="en-US" sz="1300" dirty="0"/>
          </a:p>
        </p:txBody>
      </p:sp>
      <p:sp>
        <p:nvSpPr>
          <p:cNvPr id="8" name="Text 5"/>
          <p:cNvSpPr/>
          <p:nvPr/>
        </p:nvSpPr>
        <p:spPr>
          <a:xfrm>
            <a:off x="594360" y="4709160"/>
            <a:ext cx="3749040" cy="1005840"/>
          </a:xfrm>
          <a:prstGeom prst="rect">
            <a:avLst/>
          </a:prstGeom>
          <a:noFill/>
          <a:ln/>
        </p:spPr>
        <p:txBody>
          <a:bodyPr wrap="square" lIns="0" tIns="0" rIns="0" bIns="0" rtlCol="0" anchor="ctr"/>
          <a:lstStyle/>
          <a:p>
            <a:pPr indent="0" marL="0">
              <a:buNone/>
            </a:pPr>
            <a:r>
              <a:rPr sz="1200" b="0">
                <a:solidFill>
                  <a:srgbClr val="12304A"/>
                </a:solidFill>
                <a:latin typeface="Arial"/>
              </a:rPr>
              <a:t>Presented by:</a:t>
            </a:r>
            <a:endParaRPr lang="en-US" sz="1200" dirty="0"/>
          </a:p>
          <a:p>
            <a:r>
              <a:rPr sz="1200" b="0">
                <a:solidFill>
                  <a:srgbClr val="12304A"/>
                </a:solidFill>
                <a:latin typeface="Arial"/>
              </a:rPr>
              <a:t>590017378 - Aayush Tripathi</a:t>
            </a:r>
          </a:p>
          <a:p>
            <a:r>
              <a:rPr sz="1200" b="0">
                <a:solidFill>
                  <a:srgbClr val="12304A"/>
                </a:solidFill>
                <a:latin typeface="Arial"/>
              </a:rPr>
              <a:t>590016767 - Akhil Pundir</a:t>
            </a:r>
          </a:p>
          <a:p>
            <a:r>
              <a:rPr sz="1200" b="0">
                <a:solidFill>
                  <a:srgbClr val="12304A"/>
                </a:solidFill>
                <a:latin typeface="Arial"/>
              </a:rPr>
              <a:t>590017232 - Aryan Singh</a:t>
            </a:r>
          </a:p>
        </p:txBody>
      </p:sp>
      <p:sp>
        <p:nvSpPr>
          <p:cNvPr id="9" name="Text 6"/>
          <p:cNvSpPr/>
          <p:nvPr/>
        </p:nvSpPr>
        <p:spPr>
          <a:xfrm>
            <a:off x="5943600" y="4892040"/>
            <a:ext cx="2286000" cy="594360"/>
          </a:xfrm>
          <a:prstGeom prst="rect">
            <a:avLst/>
          </a:prstGeom>
          <a:noFill/>
          <a:ln/>
        </p:spPr>
        <p:txBody>
          <a:bodyPr wrap="square" lIns="0" tIns="0" rIns="0" bIns="0" rtlCol="0" anchor="ctr"/>
          <a:lstStyle/>
          <a:p>
            <a:pPr algn="ctr" indent="0" marL="0">
              <a:buNone/>
            </a:pPr>
            <a:r>
              <a:rPr sz="1200" b="1">
                <a:solidFill>
                  <a:srgbClr val="12304A"/>
                </a:solidFill>
                <a:latin typeface="Arial"/>
              </a:rPr>
              <a:t>Mentored By:</a:t>
            </a:r>
            <a:endParaRPr lang="en-US" sz="1200" dirty="0"/>
          </a:p>
          <a:p>
            <a:r>
              <a:rPr sz="1200" b="1">
                <a:solidFill>
                  <a:srgbClr val="12304A"/>
                </a:solidFill>
                <a:latin typeface="Arial"/>
              </a:rPr>
              <a:t>School of Computer Science Faculty Guide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Content</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731520" y="1097280"/>
            <a:ext cx="4114800" cy="4937760"/>
          </a:xfrm>
          <a:prstGeom prst="rect">
            <a:avLst/>
          </a:prstGeom>
          <a:noFill/>
          <a:ln/>
        </p:spPr>
        <p:txBody>
          <a:bodyPr wrap="square" lIns="635" tIns="635" rIns="635" bIns="635" rtlCol="0" anchor="ctr">
            <a:normAutofit/>
          </a:bodyPr>
          <a:lstStyle/>
          <a:p>
            <a:pPr marL="177800" indent="-177800">
              <a:buSzPct val="100000"/>
              <a:buChar char="•"/>
            </a:pPr>
            <a:r>
              <a:rPr sz="1500" b="0">
                <a:solidFill>
                  <a:srgbClr val="12304A"/>
                </a:solidFill>
                <a:latin typeface="Arial"/>
              </a:rPr>
              <a:t>Introduction</a:t>
            </a:r>
            <a:endParaRPr lang="en-US" sz="1800" dirty="0"/>
          </a:p>
          <a:p>
            <a:r>
              <a:rPr sz="1500" b="0">
                <a:solidFill>
                  <a:srgbClr val="12304A"/>
                </a:solidFill>
                <a:latin typeface="Arial"/>
              </a:rPr>
              <a:t>Literature Review</a:t>
            </a:r>
          </a:p>
          <a:p>
            <a:r>
              <a:rPr sz="1500" b="0">
                <a:solidFill>
                  <a:srgbClr val="12304A"/>
                </a:solidFill>
                <a:latin typeface="Arial"/>
              </a:rPr>
              <a:t>Objectives</a:t>
            </a:r>
          </a:p>
          <a:p>
            <a:r>
              <a:rPr sz="1500" b="0">
                <a:solidFill>
                  <a:srgbClr val="12304A"/>
                </a:solidFill>
                <a:latin typeface="Arial"/>
              </a:rPr>
              <a:t>Methodology</a:t>
            </a:r>
          </a:p>
          <a:p>
            <a:r>
              <a:rPr sz="1500" b="0">
                <a:solidFill>
                  <a:srgbClr val="12304A"/>
                </a:solidFill>
                <a:latin typeface="Arial"/>
              </a:rPr>
              <a:t>Working Model</a:t>
            </a:r>
          </a:p>
          <a:p>
            <a:r>
              <a:rPr sz="1500" b="0">
                <a:solidFill>
                  <a:srgbClr val="12304A"/>
                </a:solidFill>
                <a:latin typeface="Arial"/>
              </a:rPr>
              <a:t>Results</a:t>
            </a:r>
          </a:p>
          <a:p>
            <a:r>
              <a:rPr sz="1500" b="0">
                <a:solidFill>
                  <a:srgbClr val="12304A"/>
                </a:solidFill>
                <a:latin typeface="Arial"/>
              </a:rPr>
              <a:t>Conclusion</a:t>
            </a:r>
          </a:p>
          <a:p>
            <a:r>
              <a:rPr sz="1500" b="0">
                <a:solidFill>
                  <a:srgbClr val="12304A"/>
                </a:solidFill>
                <a:latin typeface="Arial"/>
              </a:rPr>
              <a:t>References</a:t>
            </a:r>
          </a:p>
        </p:txBody>
      </p:sp>
      <p:sp>
        <p:nvSpPr>
          <p:cNvPr id="6" name="Text 3"/>
          <p:cNvSpPr/>
          <p:nvPr/>
        </p:nvSpPr>
        <p:spPr>
          <a:xfrm>
            <a:off x="6812280" y="5257800"/>
            <a:ext cx="1371600" cy="320040"/>
          </a:xfrm>
          <a:prstGeom prst="rect">
            <a:avLst/>
          </a:prstGeom>
          <a:noFill/>
          <a:ln/>
        </p:spPr>
        <p:txBody>
          <a:bodyPr wrap="square" lIns="0" tIns="0" rIns="0" bIns="0" rtlCol="0" anchor="ctr"/>
          <a:lstStyle/>
          <a:p>
            <a:pPr algn="ctr" indent="0" marL="0">
              <a:buNone/>
            </a:pPr>
            <a:r>
              <a:rPr sz="1400" b="1">
                <a:solidFill>
                  <a:srgbClr val="F28C28"/>
                </a:solidFill>
                <a:latin typeface="Arial"/>
              </a:rPr>
              <a:t>MID-TERM</a:t>
            </a:r>
            <a:endParaRPr lang="en-US" sz="1500" dirty="0"/>
          </a:p>
        </p:txBody>
      </p:sp>
      <p:sp>
        <p:nvSpPr>
          <p:cNvPr id="7" name="Shape 4"/>
          <p:cNvSpPr/>
          <p:nvPr/>
        </p:nvSpPr>
        <p:spPr>
          <a:xfrm>
            <a:off x="6812280" y="5623560"/>
            <a:ext cx="1371600" cy="109728"/>
          </a:xfrm>
          <a:prstGeom prst="rect">
            <a:avLst/>
          </a:prstGeom>
          <a:solidFill>
            <a:srgbClr val="F28C28"/>
          </a:solidFill>
          <a:ln w="12700">
            <a:solidFill>
              <a:srgbClr val="F28C2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Introduction</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Shape 2"/>
          <p:cNvSpPr/>
          <p:nvPr/>
        </p:nvSpPr>
        <p:spPr>
          <a:xfrm>
            <a:off x="411480" y="914400"/>
            <a:ext cx="3977640" cy="1234440"/>
          </a:xfrm>
          <a:prstGeom prst="roundRect">
            <a:avLst>
              <a:gd name="adj" fmla="val 3704"/>
            </a:avLst>
          </a:prstGeom>
          <a:solidFill>
            <a:srgbClr val="F9FBFD"/>
          </a:solidFill>
          <a:ln w="12700">
            <a:solidFill>
              <a:srgbClr val="D6E2EA"/>
            </a:solidFill>
            <a:prstDash val="solid"/>
          </a:ln>
        </p:spPr>
      </p:sp>
      <p:sp>
        <p:nvSpPr>
          <p:cNvPr id="6" name="Text 3"/>
          <p:cNvSpPr/>
          <p:nvPr/>
        </p:nvSpPr>
        <p:spPr>
          <a:xfrm>
            <a:off x="521208" y="1005840"/>
            <a:ext cx="3758184" cy="256032"/>
          </a:xfrm>
          <a:prstGeom prst="rect">
            <a:avLst/>
          </a:prstGeom>
          <a:noFill/>
          <a:ln/>
        </p:spPr>
        <p:txBody>
          <a:bodyPr wrap="square" lIns="0" tIns="0" rIns="0" bIns="0" rtlCol="0" anchor="ctr"/>
          <a:lstStyle/>
          <a:p>
            <a:pPr indent="0" marL="0">
              <a:buNone/>
            </a:pPr>
            <a:r>
              <a:rPr sz="1300" b="1">
                <a:solidFill>
                  <a:srgbClr val="F28C28"/>
                </a:solidFill>
                <a:latin typeface="Arial"/>
              </a:rPr>
              <a:t>Technical background</a:t>
            </a:r>
            <a:endParaRPr lang="en-US" sz="1300" dirty="0"/>
          </a:p>
        </p:txBody>
      </p:sp>
      <p:sp>
        <p:nvSpPr>
          <p:cNvPr id="7" name="Text 4"/>
          <p:cNvSpPr/>
          <p:nvPr/>
        </p:nvSpPr>
        <p:spPr>
          <a:xfrm>
            <a:off x="548640" y="1353312"/>
            <a:ext cx="370332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Real-time UPI &amp; card settlement leaves sub-second windows for fraud interception.</a:t>
            </a:r>
            <a:endParaRPr lang="en-US" sz="1150" dirty="0"/>
          </a:p>
          <a:p>
            <a:r>
              <a:rPr sz="1100" b="0">
                <a:solidFill>
                  <a:srgbClr val="12304A"/>
                </a:solidFill>
                <a:latin typeface="Arial"/>
              </a:rPr>
              <a:t>Attacks exploit social engineering (active calls, remote desktop) and automated bot scripts.</a:t>
            </a:r>
          </a:p>
        </p:txBody>
      </p:sp>
      <p:sp>
        <p:nvSpPr>
          <p:cNvPr id="8" name="Shape 5"/>
          <p:cNvSpPr/>
          <p:nvPr/>
        </p:nvSpPr>
        <p:spPr>
          <a:xfrm>
            <a:off x="4617720" y="914400"/>
            <a:ext cx="4069080" cy="1234440"/>
          </a:xfrm>
          <a:prstGeom prst="roundRect">
            <a:avLst>
              <a:gd name="adj" fmla="val 3704"/>
            </a:avLst>
          </a:prstGeom>
          <a:solidFill>
            <a:srgbClr val="F9FBFD"/>
          </a:solidFill>
          <a:ln w="12700">
            <a:solidFill>
              <a:srgbClr val="D6E2EA"/>
            </a:solidFill>
            <a:prstDash val="solid"/>
          </a:ln>
        </p:spPr>
      </p:sp>
      <p:sp>
        <p:nvSpPr>
          <p:cNvPr id="9" name="Text 6"/>
          <p:cNvSpPr/>
          <p:nvPr/>
        </p:nvSpPr>
        <p:spPr>
          <a:xfrm>
            <a:off x="4727448" y="1005840"/>
            <a:ext cx="3849624" cy="256032"/>
          </a:xfrm>
          <a:prstGeom prst="rect">
            <a:avLst/>
          </a:prstGeom>
          <a:noFill/>
          <a:ln/>
        </p:spPr>
        <p:txBody>
          <a:bodyPr wrap="square" lIns="0" tIns="0" rIns="0" bIns="0" rtlCol="0" anchor="ctr"/>
          <a:lstStyle/>
          <a:p>
            <a:pPr indent="0" marL="0">
              <a:buNone/>
            </a:pPr>
            <a:r>
              <a:rPr sz="1300" b="1">
                <a:solidFill>
                  <a:srgbClr val="F28C28"/>
                </a:solidFill>
                <a:latin typeface="Arial"/>
              </a:rPr>
              <a:t>Algorithms &amp; telemetry</a:t>
            </a:r>
            <a:endParaRPr lang="en-US" sz="1300" dirty="0"/>
          </a:p>
        </p:txBody>
      </p:sp>
      <p:sp>
        <p:nvSpPr>
          <p:cNvPr id="10" name="Text 7"/>
          <p:cNvSpPr/>
          <p:nvPr/>
        </p:nvSpPr>
        <p:spPr>
          <a:xfrm>
            <a:off x="4754880" y="1353312"/>
            <a:ext cx="379476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Three XGBoost tree ensembles fused with real-time heuristic contextual engines.</a:t>
            </a:r>
            <a:endParaRPr lang="en-US" sz="1150" dirty="0"/>
          </a:p>
          <a:p>
            <a:r>
              <a:rPr sz="1100" b="0">
                <a:solidFill>
                  <a:srgbClr val="12304A"/>
                </a:solidFill>
                <a:latin typeface="Arial"/>
              </a:rPr>
              <a:t>60Hz Shannon directional entropy H(D) &lt; 0.60 &amp; keystroke flight Tf &lt;= 2.5ms detect bots.</a:t>
            </a:r>
          </a:p>
          <a:p>
            <a:r>
              <a:rPr sz="1100" b="0">
                <a:solidFill>
                  <a:srgbClr val="12304A"/>
                </a:solidFill>
                <a:latin typeface="Arial"/>
              </a:rPr>
              <a:t>Haversine spacetime velocity (&gt;650 mph) and Levenshtein VPA typo-squatting (&gt;=0.75).</a:t>
            </a:r>
          </a:p>
        </p:txBody>
      </p:sp>
      <p:sp>
        <p:nvSpPr>
          <p:cNvPr id="11" name="Shape 8"/>
          <p:cNvSpPr/>
          <p:nvPr/>
        </p:nvSpPr>
        <p:spPr>
          <a:xfrm>
            <a:off x="411480" y="2377440"/>
            <a:ext cx="3977640" cy="1234440"/>
          </a:xfrm>
          <a:prstGeom prst="roundRect">
            <a:avLst>
              <a:gd name="adj" fmla="val 3704"/>
            </a:avLst>
          </a:prstGeom>
          <a:solidFill>
            <a:srgbClr val="F9FBFD"/>
          </a:solidFill>
          <a:ln w="12700">
            <a:solidFill>
              <a:srgbClr val="D6E2EA"/>
            </a:solidFill>
            <a:prstDash val="solid"/>
          </a:ln>
        </p:spPr>
      </p:sp>
      <p:sp>
        <p:nvSpPr>
          <p:cNvPr id="12" name="Text 9"/>
          <p:cNvSpPr/>
          <p:nvPr/>
        </p:nvSpPr>
        <p:spPr>
          <a:xfrm>
            <a:off x="521208" y="2468880"/>
            <a:ext cx="3758184" cy="256032"/>
          </a:xfrm>
          <a:prstGeom prst="rect">
            <a:avLst/>
          </a:prstGeom>
          <a:noFill/>
          <a:ln/>
        </p:spPr>
        <p:txBody>
          <a:bodyPr wrap="square" lIns="0" tIns="0" rIns="0" bIns="0" rtlCol="0" anchor="ctr"/>
          <a:lstStyle/>
          <a:p>
            <a:pPr indent="0" marL="0">
              <a:buNone/>
            </a:pPr>
            <a:r>
              <a:rPr sz="1300" b="1">
                <a:solidFill>
                  <a:srgbClr val="F28C28"/>
                </a:solidFill>
                <a:latin typeface="Arial"/>
              </a:rPr>
              <a:t>Motivation &amp; problem</a:t>
            </a:r>
            <a:endParaRPr lang="en-US" sz="1300" dirty="0"/>
          </a:p>
        </p:txBody>
      </p:sp>
      <p:sp>
        <p:nvSpPr>
          <p:cNvPr id="13" name="Text 10"/>
          <p:cNvSpPr/>
          <p:nvPr/>
        </p:nvSpPr>
        <p:spPr>
          <a:xfrm>
            <a:off x="548640" y="2816352"/>
            <a:ext cx="370332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Rule-only systems miss multi-modal context; static 403 blocks trigger fast bot proxy rotation.</a:t>
            </a:r>
            <a:endParaRPr lang="en-US" sz="1150" dirty="0"/>
          </a:p>
          <a:p>
            <a:r>
              <a:rPr sz="1100" b="0">
                <a:solidFill>
                  <a:srgbClr val="12304A"/>
                </a:solidFill>
                <a:latin typeface="Arial"/>
              </a:rPr>
              <a:t>Aegis traps bots in a 2,400ms cryptographic tarpit while preserving genuine user velocity.</a:t>
            </a:r>
          </a:p>
          <a:p>
            <a:r>
              <a:rPr sz="1100" b="0">
                <a:solidFill>
                  <a:srgbClr val="12304A"/>
                </a:solidFill>
                <a:latin typeface="Arial"/>
              </a:rPr>
              <a:t>Proportionate multi-tier responses eliminate friction for 98%+ of legitimate transactions.</a:t>
            </a:r>
          </a:p>
        </p:txBody>
      </p:sp>
      <p:sp>
        <p:nvSpPr>
          <p:cNvPr id="14" name="Shape 11"/>
          <p:cNvSpPr/>
          <p:nvPr/>
        </p:nvSpPr>
        <p:spPr>
          <a:xfrm>
            <a:off x="4617720" y="2377440"/>
            <a:ext cx="4069080" cy="1234440"/>
          </a:xfrm>
          <a:prstGeom prst="roundRect">
            <a:avLst>
              <a:gd name="adj" fmla="val 3704"/>
            </a:avLst>
          </a:prstGeom>
          <a:solidFill>
            <a:srgbClr val="F9FBFD"/>
          </a:solidFill>
          <a:ln w="12700">
            <a:solidFill>
              <a:srgbClr val="D6E2EA"/>
            </a:solidFill>
            <a:prstDash val="solid"/>
          </a:ln>
        </p:spPr>
      </p:sp>
      <p:sp>
        <p:nvSpPr>
          <p:cNvPr id="15" name="Text 12"/>
          <p:cNvSpPr/>
          <p:nvPr/>
        </p:nvSpPr>
        <p:spPr>
          <a:xfrm>
            <a:off x="4727448" y="2468880"/>
            <a:ext cx="3849624" cy="256032"/>
          </a:xfrm>
          <a:prstGeom prst="rect">
            <a:avLst/>
          </a:prstGeom>
          <a:noFill/>
          <a:ln/>
        </p:spPr>
        <p:txBody>
          <a:bodyPr wrap="square" lIns="0" tIns="0" rIns="0" bIns="0" rtlCol="0" anchor="ctr"/>
          <a:lstStyle/>
          <a:p>
            <a:pPr indent="0" marL="0">
              <a:buNone/>
            </a:pPr>
            <a:r>
              <a:rPr sz="1300" b="1">
                <a:solidFill>
                  <a:srgbClr val="F28C28"/>
                </a:solidFill>
                <a:latin typeface="Arial"/>
              </a:rPr>
              <a:t>Applications</a:t>
            </a:r>
            <a:endParaRPr lang="en-US" sz="1300" dirty="0"/>
          </a:p>
        </p:txBody>
      </p:sp>
      <p:sp>
        <p:nvSpPr>
          <p:cNvPr id="16" name="Text 13"/>
          <p:cNvSpPr/>
          <p:nvPr/>
        </p:nvSpPr>
        <p:spPr>
          <a:xfrm>
            <a:off x="4754880" y="2816352"/>
            <a:ext cx="379476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Banks, UPI PSPs (GPay, PhonePe, Paytm), payment switches, and enterprise SOC platforms.</a:t>
            </a:r>
            <a:endParaRPr lang="en-US" sz="1150" dirty="0"/>
          </a:p>
        </p:txBody>
      </p:sp>
      <p:sp>
        <p:nvSpPr>
          <p:cNvPr id="17" name="Shape 14"/>
          <p:cNvSpPr/>
          <p:nvPr/>
        </p:nvSpPr>
        <p:spPr>
          <a:xfrm>
            <a:off x="411480" y="3840480"/>
            <a:ext cx="8275320" cy="1325880"/>
          </a:xfrm>
          <a:prstGeom prst="roundRect">
            <a:avLst>
              <a:gd name="adj" fmla="val 3448"/>
            </a:avLst>
          </a:prstGeom>
          <a:solidFill>
            <a:srgbClr val="F9FBFD"/>
          </a:solidFill>
          <a:ln w="12700">
            <a:solidFill>
              <a:srgbClr val="D6E2EA"/>
            </a:solidFill>
            <a:prstDash val="solid"/>
          </a:ln>
        </p:spPr>
      </p:sp>
      <p:sp>
        <p:nvSpPr>
          <p:cNvPr id="18" name="Text 15"/>
          <p:cNvSpPr/>
          <p:nvPr/>
        </p:nvSpPr>
        <p:spPr>
          <a:xfrm>
            <a:off x="521208" y="3931920"/>
            <a:ext cx="8055864" cy="256032"/>
          </a:xfrm>
          <a:prstGeom prst="rect">
            <a:avLst/>
          </a:prstGeom>
          <a:noFill/>
          <a:ln/>
        </p:spPr>
        <p:txBody>
          <a:bodyPr wrap="square" lIns="0" tIns="0" rIns="0" bIns="0" rtlCol="0" anchor="ctr"/>
          <a:lstStyle/>
          <a:p>
            <a:pPr indent="0" marL="0">
              <a:buNone/>
            </a:pPr>
            <a:r>
              <a:rPr sz="1300" b="1">
                <a:solidFill>
                  <a:srgbClr val="F28C28"/>
                </a:solidFill>
                <a:latin typeface="Arial"/>
              </a:rPr>
              <a:t>Datasets &amp; input</a:t>
            </a:r>
            <a:endParaRPr lang="en-US" sz="1300" dirty="0"/>
          </a:p>
        </p:txBody>
      </p:sp>
      <p:sp>
        <p:nvSpPr>
          <p:cNvPr id="19" name="Text 16"/>
          <p:cNvSpPr/>
          <p:nvPr/>
        </p:nvSpPr>
        <p:spPr>
          <a:xfrm>
            <a:off x="548640" y="4279392"/>
            <a:ext cx="8001000" cy="79552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4 datasets: Login telemetry, Card velocity, Unified UPI (9,000+ total rows) &amp; Decoy intercepts.</a:t>
            </a:r>
            <a:endParaRPr lang="en-US" sz="1150" dirty="0"/>
          </a:p>
          <a:p>
            <a:r>
              <a:rPr sz="1100" b="0">
                <a:solidFill>
                  <a:srgbClr val="12304A"/>
                </a:solidFill>
                <a:latin typeface="Arial"/>
              </a:rPr>
              <a:t>Live 60Hz biometric telemetry stream + JSON payment payloads via 9 REST API endpoints.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Literature Review</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502920" y="868680"/>
            <a:ext cx="1828800" cy="256032"/>
          </a:xfrm>
          <a:prstGeom prst="rect">
            <a:avLst/>
          </a:prstGeom>
          <a:noFill/>
          <a:ln/>
        </p:spPr>
        <p:txBody>
          <a:bodyPr wrap="square" lIns="0" tIns="0" rIns="0" bIns="0" rtlCol="0" anchor="ctr"/>
          <a:lstStyle/>
          <a:p>
            <a:pPr indent="0" marL="0">
              <a:buNone/>
            </a:pPr>
            <a:r>
              <a:rPr sz="1300" b="1">
                <a:solidFill>
                  <a:srgbClr val="F28C28"/>
                </a:solidFill>
                <a:latin typeface="Arial"/>
              </a:rPr>
              <a:t>Related work &amp; foundations</a:t>
            </a:r>
            <a:endParaRPr lang="en-US" sz="1400" dirty="0"/>
          </a:p>
        </p:txBody>
      </p:sp>
      <p:sp>
        <p:nvSpPr>
          <p:cNvPr id="6" name="Text 3"/>
          <p:cNvSpPr/>
          <p:nvPr/>
        </p:nvSpPr>
        <p:spPr>
          <a:xfrm>
            <a:off x="594360" y="1188720"/>
            <a:ext cx="7863840" cy="1143000"/>
          </a:xfrm>
          <a:prstGeom prst="rect">
            <a:avLst/>
          </a:prstGeom>
          <a:noFill/>
          <a:ln/>
        </p:spPr>
        <p:txBody>
          <a:bodyPr wrap="square" lIns="635" tIns="635" rIns="635" bIns="635" rtlCol="0" anchor="ctr">
            <a:normAutofit/>
          </a:bodyPr>
          <a:lstStyle/>
          <a:p>
            <a:pPr marL="177800" indent="-177800">
              <a:buSzPct val="100000"/>
              <a:buChar char="•"/>
            </a:pPr>
            <a:r>
              <a:rPr sz="1100" b="0">
                <a:solidFill>
                  <a:srgbClr val="12304A"/>
                </a:solidFill>
                <a:latin typeface="Arial"/>
              </a:rPr>
              <a:t>XGBoost: Chen &amp; Guestrin, 2016; Shannon Directional Entropy: Shannon, 1948.</a:t>
            </a:r>
            <a:endParaRPr lang="en-US" sz="1300" dirty="0"/>
          </a:p>
          <a:p>
            <a:r>
              <a:rPr sz="1100" b="0">
                <a:solidFill>
                  <a:srgbClr val="12304A"/>
                </a:solidFill>
                <a:latin typeface="Arial"/>
              </a:rPr>
              <a:t>Levenshtein distance (1966); Haversine spherical geodesy (Sinnott, 1984); SMOTE (Chawla, 2002).</a:t>
            </a:r>
          </a:p>
          <a:p>
            <a:r>
              <a:rPr sz="1100" b="0">
                <a:solidFill>
                  <a:srgbClr val="12304A"/>
                </a:solidFill>
                <a:latin typeface="Arial"/>
              </a:rPr>
              <a:t>Regulatory guidelines: RBI Master Directions (2021), DPDP Act (2023), NPCI UPI Standards.</a:t>
            </a:r>
          </a:p>
        </p:txBody>
      </p:sp>
      <p:sp>
        <p:nvSpPr>
          <p:cNvPr id="7" name="Text 4"/>
          <p:cNvSpPr/>
          <p:nvPr/>
        </p:nvSpPr>
        <p:spPr>
          <a:xfrm>
            <a:off x="594360" y="2331720"/>
            <a:ext cx="7955280" cy="320040"/>
          </a:xfrm>
          <a:prstGeom prst="rect">
            <a:avLst/>
          </a:prstGeom>
          <a:noFill/>
          <a:ln/>
        </p:spPr>
        <p:txBody>
          <a:bodyPr wrap="square" lIns="0" tIns="0" rIns="0" bIns="0" rtlCol="0" anchor="ctr"/>
          <a:lstStyle/>
          <a:p>
            <a:pPr indent="0" marL="0">
              <a:buNone/>
            </a:pPr>
            <a:r>
              <a:rPr sz="1100" b="1">
                <a:solidFill>
                  <a:srgbClr val="12304A"/>
                </a:solidFill>
                <a:latin typeface="Arial"/>
              </a:rPr>
              <a:t>Inference: Tree ensembles fit tabular fraud; dynamic biometrics and honeypot tarpits close perimeter gaps.</a:t>
            </a:r>
            <a:endParaRPr lang="en-US" sz="1300" dirty="0"/>
          </a:p>
        </p:txBody>
      </p:sp>
      <p:sp>
        <p:nvSpPr>
          <p:cNvPr id="8" name="Shape 5"/>
          <p:cNvSpPr/>
          <p:nvPr/>
        </p:nvSpPr>
        <p:spPr>
          <a:xfrm>
            <a:off x="502920" y="2880360"/>
            <a:ext cx="3840480" cy="1051560"/>
          </a:xfrm>
          <a:prstGeom prst="roundRect">
            <a:avLst>
              <a:gd name="adj" fmla="val 4348"/>
            </a:avLst>
          </a:prstGeom>
          <a:solidFill>
            <a:srgbClr val="F9FBFD"/>
          </a:solidFill>
          <a:ln w="12700">
            <a:solidFill>
              <a:srgbClr val="D6E2EA"/>
            </a:solidFill>
            <a:prstDash val="solid"/>
          </a:ln>
        </p:spPr>
      </p:sp>
      <p:sp>
        <p:nvSpPr>
          <p:cNvPr id="9" name="Text 6"/>
          <p:cNvSpPr/>
          <p:nvPr/>
        </p:nvSpPr>
        <p:spPr>
          <a:xfrm>
            <a:off x="612648" y="2971800"/>
            <a:ext cx="3621024" cy="256032"/>
          </a:xfrm>
          <a:prstGeom prst="rect">
            <a:avLst/>
          </a:prstGeom>
          <a:noFill/>
          <a:ln/>
        </p:spPr>
        <p:txBody>
          <a:bodyPr wrap="square" lIns="0" tIns="0" rIns="0" bIns="0" rtlCol="0" anchor="ctr"/>
          <a:lstStyle/>
          <a:p>
            <a:pPr indent="0" marL="0">
              <a:buNone/>
            </a:pPr>
            <a:r>
              <a:rPr sz="1300" b="1">
                <a:solidFill>
                  <a:srgbClr val="F28C28"/>
                </a:solidFill>
                <a:latin typeface="Arial"/>
              </a:rPr>
              <a:t>Strengths</a:t>
            </a:r>
            <a:endParaRPr lang="en-US" sz="1300" dirty="0"/>
          </a:p>
        </p:txBody>
      </p:sp>
      <p:sp>
        <p:nvSpPr>
          <p:cNvPr id="10" name="Text 7"/>
          <p:cNvSpPr/>
          <p:nvPr/>
        </p:nvSpPr>
        <p:spPr>
          <a:xfrm>
            <a:off x="640080" y="3319272"/>
            <a:ext cx="356616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Proportionate 4-tier response; 60Hz biometric bot detection; sub-2ms inference; silent STUN IP capture.</a:t>
            </a:r>
            <a:endParaRPr lang="en-US" sz="1150" dirty="0"/>
          </a:p>
        </p:txBody>
      </p:sp>
      <p:sp>
        <p:nvSpPr>
          <p:cNvPr id="11" name="Shape 8"/>
          <p:cNvSpPr/>
          <p:nvPr/>
        </p:nvSpPr>
        <p:spPr>
          <a:xfrm>
            <a:off x="4572000" y="2880360"/>
            <a:ext cx="3840480" cy="1051560"/>
          </a:xfrm>
          <a:prstGeom prst="roundRect">
            <a:avLst>
              <a:gd name="adj" fmla="val 4348"/>
            </a:avLst>
          </a:prstGeom>
          <a:solidFill>
            <a:srgbClr val="F9FBFD"/>
          </a:solidFill>
          <a:ln w="12700">
            <a:solidFill>
              <a:srgbClr val="D6E2EA"/>
            </a:solidFill>
            <a:prstDash val="solid"/>
          </a:ln>
        </p:spPr>
      </p:sp>
      <p:sp>
        <p:nvSpPr>
          <p:cNvPr id="12" name="Text 9"/>
          <p:cNvSpPr/>
          <p:nvPr/>
        </p:nvSpPr>
        <p:spPr>
          <a:xfrm>
            <a:off x="4681728" y="2971800"/>
            <a:ext cx="3621024" cy="256032"/>
          </a:xfrm>
          <a:prstGeom prst="rect">
            <a:avLst/>
          </a:prstGeom>
          <a:noFill/>
          <a:ln/>
        </p:spPr>
        <p:txBody>
          <a:bodyPr wrap="square" lIns="0" tIns="0" rIns="0" bIns="0" rtlCol="0" anchor="ctr"/>
          <a:lstStyle/>
          <a:p>
            <a:pPr indent="0" marL="0">
              <a:buNone/>
            </a:pPr>
            <a:r>
              <a:rPr sz="1300" b="1">
                <a:solidFill>
                  <a:srgbClr val="F28C28"/>
                </a:solidFill>
                <a:latin typeface="Arial"/>
              </a:rPr>
              <a:t>Weaknesses</a:t>
            </a:r>
            <a:endParaRPr lang="en-US" sz="1300" dirty="0"/>
          </a:p>
        </p:txBody>
      </p:sp>
      <p:sp>
        <p:nvSpPr>
          <p:cNvPr id="13" name="Text 10"/>
          <p:cNvSpPr/>
          <p:nvPr/>
        </p:nvSpPr>
        <p:spPr>
          <a:xfrm>
            <a:off x="4709160" y="3319272"/>
            <a:ext cx="356616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Synthetic baseline data; advanced physical mouse replay attacks require multi-factor verification.</a:t>
            </a:r>
            <a:endParaRPr lang="en-US" sz="1150" dirty="0"/>
          </a:p>
        </p:txBody>
      </p:sp>
      <p:sp>
        <p:nvSpPr>
          <p:cNvPr id="14" name="Shape 11"/>
          <p:cNvSpPr/>
          <p:nvPr/>
        </p:nvSpPr>
        <p:spPr>
          <a:xfrm>
            <a:off x="502920" y="4160520"/>
            <a:ext cx="3840480" cy="1051560"/>
          </a:xfrm>
          <a:prstGeom prst="roundRect">
            <a:avLst>
              <a:gd name="adj" fmla="val 4348"/>
            </a:avLst>
          </a:prstGeom>
          <a:solidFill>
            <a:srgbClr val="F9FBFD"/>
          </a:solidFill>
          <a:ln w="12700">
            <a:solidFill>
              <a:srgbClr val="D6E2EA"/>
            </a:solidFill>
            <a:prstDash val="solid"/>
          </a:ln>
        </p:spPr>
      </p:sp>
      <p:sp>
        <p:nvSpPr>
          <p:cNvPr id="15" name="Text 12"/>
          <p:cNvSpPr/>
          <p:nvPr/>
        </p:nvSpPr>
        <p:spPr>
          <a:xfrm>
            <a:off x="612648" y="4251960"/>
            <a:ext cx="3621024" cy="256032"/>
          </a:xfrm>
          <a:prstGeom prst="rect">
            <a:avLst/>
          </a:prstGeom>
          <a:noFill/>
          <a:ln/>
        </p:spPr>
        <p:txBody>
          <a:bodyPr wrap="square" lIns="0" tIns="0" rIns="0" bIns="0" rtlCol="0" anchor="ctr"/>
          <a:lstStyle/>
          <a:p>
            <a:pPr indent="0" marL="0">
              <a:buNone/>
            </a:pPr>
            <a:r>
              <a:rPr sz="1300" b="1">
                <a:solidFill>
                  <a:srgbClr val="F28C28"/>
                </a:solidFill>
                <a:latin typeface="Arial"/>
              </a:rPr>
              <a:t>Opportunities</a:t>
            </a:r>
            <a:endParaRPr lang="en-US" sz="1300" dirty="0"/>
          </a:p>
        </p:txBody>
      </p:sp>
      <p:sp>
        <p:nvSpPr>
          <p:cNvPr id="16" name="Text 13"/>
          <p:cNvSpPr/>
          <p:nvPr/>
        </p:nvSpPr>
        <p:spPr>
          <a:xfrm>
            <a:off x="640080" y="4599432"/>
            <a:ext cx="356616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Rising UPI scale (14B+ monthly txns); strong banking demand for active deception &amp; bot tarpits.</a:t>
            </a:r>
            <a:endParaRPr lang="en-US" sz="1150" dirty="0"/>
          </a:p>
        </p:txBody>
      </p:sp>
      <p:sp>
        <p:nvSpPr>
          <p:cNvPr id="17" name="Shape 14"/>
          <p:cNvSpPr/>
          <p:nvPr/>
        </p:nvSpPr>
        <p:spPr>
          <a:xfrm>
            <a:off x="4572000" y="4160520"/>
            <a:ext cx="3840480" cy="1051560"/>
          </a:xfrm>
          <a:prstGeom prst="roundRect">
            <a:avLst>
              <a:gd name="adj" fmla="val 4348"/>
            </a:avLst>
          </a:prstGeom>
          <a:solidFill>
            <a:srgbClr val="F9FBFD"/>
          </a:solidFill>
          <a:ln w="12700">
            <a:solidFill>
              <a:srgbClr val="D6E2EA"/>
            </a:solidFill>
            <a:prstDash val="solid"/>
          </a:ln>
        </p:spPr>
      </p:sp>
      <p:sp>
        <p:nvSpPr>
          <p:cNvPr id="18" name="Text 15"/>
          <p:cNvSpPr/>
          <p:nvPr/>
        </p:nvSpPr>
        <p:spPr>
          <a:xfrm>
            <a:off x="4681728" y="4251960"/>
            <a:ext cx="3621024" cy="256032"/>
          </a:xfrm>
          <a:prstGeom prst="rect">
            <a:avLst/>
          </a:prstGeom>
          <a:noFill/>
          <a:ln/>
        </p:spPr>
        <p:txBody>
          <a:bodyPr wrap="square" lIns="0" tIns="0" rIns="0" bIns="0" rtlCol="0" anchor="ctr"/>
          <a:lstStyle/>
          <a:p>
            <a:pPr indent="0" marL="0">
              <a:buNone/>
            </a:pPr>
            <a:r>
              <a:rPr sz="1300" b="1">
                <a:solidFill>
                  <a:srgbClr val="F28C28"/>
                </a:solidFill>
                <a:latin typeface="Arial"/>
              </a:rPr>
              <a:t>Threats</a:t>
            </a:r>
            <a:endParaRPr lang="en-US" sz="1300" dirty="0"/>
          </a:p>
        </p:txBody>
      </p:sp>
      <p:sp>
        <p:nvSpPr>
          <p:cNvPr id="19" name="Text 16"/>
          <p:cNvSpPr/>
          <p:nvPr/>
        </p:nvSpPr>
        <p:spPr>
          <a:xfrm>
            <a:off x="4709160" y="4599432"/>
            <a:ext cx="356616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Headless browser botnets (Puppeteer/Stealth), residential proxy hopping, and generative phishing.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Objective</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640080" y="960120"/>
            <a:ext cx="2011680" cy="320040"/>
          </a:xfrm>
          <a:prstGeom prst="rect">
            <a:avLst/>
          </a:prstGeom>
          <a:noFill/>
          <a:ln/>
        </p:spPr>
        <p:txBody>
          <a:bodyPr wrap="square" lIns="0" tIns="0" rIns="0" bIns="0" rtlCol="0" anchor="ctr"/>
          <a:lstStyle/>
          <a:p>
            <a:pPr indent="0" marL="0">
              <a:buNone/>
            </a:pPr>
            <a:r>
              <a:rPr sz="1600" b="1">
                <a:solidFill>
                  <a:srgbClr val="F28C28"/>
                </a:solidFill>
                <a:latin typeface="Arial"/>
              </a:rPr>
              <a:t>Main Objective</a:t>
            </a:r>
            <a:endParaRPr lang="en-US" sz="1600" dirty="0"/>
          </a:p>
        </p:txBody>
      </p:sp>
      <p:sp>
        <p:nvSpPr>
          <p:cNvPr id="6" name="Text 3"/>
          <p:cNvSpPr/>
          <p:nvPr/>
        </p:nvSpPr>
        <p:spPr>
          <a:xfrm>
            <a:off x="822960" y="1417320"/>
            <a:ext cx="7406640" cy="548640"/>
          </a:xfrm>
          <a:prstGeom prst="rect">
            <a:avLst/>
          </a:prstGeom>
          <a:noFill/>
          <a:ln/>
        </p:spPr>
        <p:txBody>
          <a:bodyPr wrap="square" lIns="0" tIns="0" rIns="0" bIns="0" rtlCol="0" anchor="ctr"/>
          <a:lstStyle/>
          <a:p>
            <a:pPr algn="ctr" indent="0" marL="0">
              <a:buNone/>
            </a:pPr>
            <a:r>
              <a:rPr sz="1400" b="0">
                <a:solidFill>
                  <a:srgbClr val="12304A"/>
                </a:solidFill>
                <a:latin typeface="Arial"/>
              </a:rPr>
              <a:t>Build a real-time, explainable fraud &amp; bot defense platform with proportionate 4-tier responses.</a:t>
            </a:r>
            <a:endParaRPr lang="en-US" sz="2000" dirty="0"/>
          </a:p>
        </p:txBody>
      </p:sp>
      <p:sp>
        <p:nvSpPr>
          <p:cNvPr id="7" name="Text 4"/>
          <p:cNvSpPr/>
          <p:nvPr/>
        </p:nvSpPr>
        <p:spPr>
          <a:xfrm>
            <a:off x="1280160" y="2148840"/>
            <a:ext cx="6583680" cy="365760"/>
          </a:xfrm>
          <a:prstGeom prst="rect">
            <a:avLst/>
          </a:prstGeom>
          <a:noFill/>
          <a:ln/>
        </p:spPr>
        <p:txBody>
          <a:bodyPr wrap="square" lIns="0" tIns="0" rIns="0" bIns="0" rtlCol="0" anchor="ctr"/>
          <a:lstStyle/>
          <a:p>
            <a:pPr algn="ctr" indent="0" marL="0">
              <a:buNone/>
            </a:pPr>
            <a:r>
              <a:rPr sz="1300" b="1">
                <a:solidFill>
                  <a:srgbClr val="2EA3F2"/>
                </a:solidFill>
                <a:latin typeface="Arial"/>
              </a:rPr>
              <a:t>Approve   |   Friction (Pre-PIN Cooldown)   |   Block   |   Honeypot Tarpit</a:t>
            </a:r>
            <a:endParaRPr lang="en-US" sz="1800" dirty="0"/>
          </a:p>
        </p:txBody>
      </p:sp>
      <p:sp>
        <p:nvSpPr>
          <p:cNvPr id="8" name="Text 5"/>
          <p:cNvSpPr/>
          <p:nvPr/>
        </p:nvSpPr>
        <p:spPr>
          <a:xfrm>
            <a:off x="640080" y="2926080"/>
            <a:ext cx="2011680" cy="320040"/>
          </a:xfrm>
          <a:prstGeom prst="rect">
            <a:avLst/>
          </a:prstGeom>
          <a:noFill/>
          <a:ln/>
        </p:spPr>
        <p:txBody>
          <a:bodyPr wrap="square" lIns="0" tIns="0" rIns="0" bIns="0" rtlCol="0" anchor="ctr"/>
          <a:lstStyle/>
          <a:p>
            <a:pPr indent="0" marL="0">
              <a:buNone/>
            </a:pPr>
            <a:r>
              <a:rPr sz="1600" b="1">
                <a:solidFill>
                  <a:srgbClr val="F28C28"/>
                </a:solidFill>
                <a:latin typeface="Arial"/>
              </a:rPr>
              <a:t>Sub Objectives</a:t>
            </a:r>
            <a:endParaRPr lang="en-US" sz="1600" dirty="0"/>
          </a:p>
        </p:txBody>
      </p:sp>
      <p:sp>
        <p:nvSpPr>
          <p:cNvPr id="9" name="Text 6"/>
          <p:cNvSpPr/>
          <p:nvPr/>
        </p:nvSpPr>
        <p:spPr>
          <a:xfrm>
            <a:off x="914400" y="3337560"/>
            <a:ext cx="7315200" cy="2011680"/>
          </a:xfrm>
          <a:prstGeom prst="rect">
            <a:avLst/>
          </a:prstGeom>
          <a:noFill/>
          <a:ln/>
        </p:spPr>
        <p:txBody>
          <a:bodyPr wrap="square" lIns="635" tIns="635" rIns="635" bIns="635" rtlCol="0" anchor="ctr">
            <a:normAutofit/>
          </a:bodyPr>
          <a:lstStyle/>
          <a:p>
            <a:pPr marL="177800" indent="-177800">
              <a:buSzPct val="100000"/>
              <a:buChar char="•"/>
            </a:pPr>
            <a:r>
              <a:rPr sz="1150" b="0">
                <a:solidFill>
                  <a:srgbClr val="12304A"/>
                </a:solidFill>
                <a:latin typeface="Arial"/>
              </a:rPr>
              <a:t>1. Train 3 XGBoost fraud classifiers (Login, Card Velocity, and Unified UPI Transaction).</a:t>
            </a:r>
            <a:endParaRPr lang="en-US" sz="1600" dirty="0"/>
          </a:p>
          <a:p>
            <a:r>
              <a:rPr sz="1150" b="0">
                <a:solidFill>
                  <a:srgbClr val="12304A"/>
                </a:solidFill>
                <a:latin typeface="Arial"/>
              </a:rPr>
              <a:t>2. Engineer 60Hz Shannon directional entropy H(D) &lt; 0.60 &amp; keystroke flight Tf &lt;= 2.5ms bot sensors.</a:t>
            </a:r>
          </a:p>
          <a:p>
            <a:r>
              <a:rPr sz="1150" b="0">
                <a:solidFill>
                  <a:srgbClr val="12304A"/>
                </a:solidFill>
                <a:latin typeface="Arial"/>
              </a:rPr>
              <a:t>3. Deploy Haversine spacetime travel &amp; Levenshtein typo-squatting heuristic verification engines.</a:t>
            </a:r>
          </a:p>
          <a:p>
            <a:r>
              <a:rPr sz="1150" b="0">
                <a:solidFill>
                  <a:srgbClr val="12304A"/>
                </a:solidFill>
                <a:latin typeface="Arial"/>
              </a:rPr>
              <a:t>4. Implement 2,400ms PoW tarpit, ghost banking sandbox &amp; decoy NPCI switch error interceptor.</a:t>
            </a:r>
          </a:p>
          <a:p>
            <a:r>
              <a:rPr sz="1150" b="0">
                <a:solidFill>
                  <a:srgbClr val="12304A"/>
                </a:solidFill>
                <a:latin typeface="Arial"/>
              </a:rPr>
              <a:t>5. Expose 9 production REST APIs and deliver an interactive SOC portal with Chrome extension simulator.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Methodology</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502920" y="822960"/>
            <a:ext cx="2834640" cy="320040"/>
          </a:xfrm>
          <a:prstGeom prst="rect">
            <a:avLst/>
          </a:prstGeom>
          <a:noFill/>
          <a:ln/>
        </p:spPr>
        <p:txBody>
          <a:bodyPr wrap="square" lIns="0" tIns="0" rIns="0" bIns="0" rtlCol="0" anchor="ctr"/>
          <a:lstStyle/>
          <a:p>
            <a:pPr indent="0" marL="0">
              <a:buNone/>
            </a:pPr>
            <a:r>
              <a:rPr sz="1400" b="1">
                <a:solidFill>
                  <a:srgbClr val="12304A"/>
                </a:solidFill>
                <a:latin typeface="Arial"/>
              </a:rPr>
              <a:t>Incremental Prototype Model</a:t>
            </a:r>
            <a:endParaRPr lang="en-US" sz="1500" dirty="0"/>
          </a:p>
        </p:txBody>
      </p:sp>
      <p:sp>
        <p:nvSpPr>
          <p:cNvPr id="6" name="Shape 3"/>
          <p:cNvSpPr/>
          <p:nvPr/>
        </p:nvSpPr>
        <p:spPr>
          <a:xfrm>
            <a:off x="411480" y="1325880"/>
            <a:ext cx="1024128" cy="566928"/>
          </a:xfrm>
          <a:prstGeom prst="roundRect">
            <a:avLst/>
          </a:prstGeom>
          <a:solidFill>
            <a:srgbClr val="FFF7ED"/>
          </a:solidFill>
          <a:ln w="12700">
            <a:solidFill>
              <a:srgbClr val="F28C28"/>
            </a:solidFill>
            <a:prstDash val="solid"/>
          </a:ln>
        </p:spPr>
      </p:sp>
      <p:sp>
        <p:nvSpPr>
          <p:cNvPr id="7" name="Text 4"/>
          <p:cNvSpPr/>
          <p:nvPr/>
        </p:nvSpPr>
        <p:spPr>
          <a:xfrm>
            <a:off x="448056"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Analysis</a:t>
            </a:r>
            <a:endParaRPr lang="en-US" sz="950" dirty="0"/>
          </a:p>
        </p:txBody>
      </p:sp>
      <p:sp>
        <p:nvSpPr>
          <p:cNvPr id="8" name="Shape 5"/>
          <p:cNvSpPr/>
          <p:nvPr/>
        </p:nvSpPr>
        <p:spPr>
          <a:xfrm>
            <a:off x="1453896" y="1481328"/>
            <a:ext cx="228600" cy="256032"/>
          </a:xfrm>
          <a:prstGeom prst="chevron">
            <a:avLst/>
          </a:prstGeom>
          <a:solidFill>
            <a:srgbClr val="F28C28"/>
          </a:solidFill>
          <a:ln w="12700">
            <a:solidFill>
              <a:srgbClr val="F28C28"/>
            </a:solidFill>
            <a:prstDash val="solid"/>
          </a:ln>
        </p:spPr>
      </p:sp>
      <p:sp>
        <p:nvSpPr>
          <p:cNvPr id="9" name="Shape 6"/>
          <p:cNvSpPr/>
          <p:nvPr/>
        </p:nvSpPr>
        <p:spPr>
          <a:xfrm>
            <a:off x="1618488" y="1325880"/>
            <a:ext cx="1024128" cy="566928"/>
          </a:xfrm>
          <a:prstGeom prst="roundRect">
            <a:avLst/>
          </a:prstGeom>
          <a:solidFill>
            <a:srgbClr val="FFF7ED"/>
          </a:solidFill>
          <a:ln w="12700">
            <a:solidFill>
              <a:srgbClr val="F28C28"/>
            </a:solidFill>
            <a:prstDash val="solid"/>
          </a:ln>
        </p:spPr>
      </p:sp>
      <p:sp>
        <p:nvSpPr>
          <p:cNvPr id="10" name="Text 7"/>
          <p:cNvSpPr/>
          <p:nvPr/>
        </p:nvSpPr>
        <p:spPr>
          <a:xfrm>
            <a:off x="1655064"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Data generation</a:t>
            </a:r>
            <a:endParaRPr lang="en-US" sz="950" dirty="0"/>
          </a:p>
        </p:txBody>
      </p:sp>
      <p:sp>
        <p:nvSpPr>
          <p:cNvPr id="11" name="Shape 8"/>
          <p:cNvSpPr/>
          <p:nvPr/>
        </p:nvSpPr>
        <p:spPr>
          <a:xfrm>
            <a:off x="2660904" y="1481328"/>
            <a:ext cx="228600" cy="256032"/>
          </a:xfrm>
          <a:prstGeom prst="chevron">
            <a:avLst/>
          </a:prstGeom>
          <a:solidFill>
            <a:srgbClr val="F28C28"/>
          </a:solidFill>
          <a:ln w="12700">
            <a:solidFill>
              <a:srgbClr val="F28C28"/>
            </a:solidFill>
            <a:prstDash val="solid"/>
          </a:ln>
        </p:spPr>
      </p:sp>
      <p:sp>
        <p:nvSpPr>
          <p:cNvPr id="12" name="Shape 9"/>
          <p:cNvSpPr/>
          <p:nvPr/>
        </p:nvSpPr>
        <p:spPr>
          <a:xfrm>
            <a:off x="2825496" y="1325880"/>
            <a:ext cx="1024128" cy="566928"/>
          </a:xfrm>
          <a:prstGeom prst="roundRect">
            <a:avLst/>
          </a:prstGeom>
          <a:solidFill>
            <a:srgbClr val="FFF7ED"/>
          </a:solidFill>
          <a:ln w="12700">
            <a:solidFill>
              <a:srgbClr val="F28C28"/>
            </a:solidFill>
            <a:prstDash val="solid"/>
          </a:ln>
        </p:spPr>
      </p:sp>
      <p:sp>
        <p:nvSpPr>
          <p:cNvPr id="13" name="Text 10"/>
          <p:cNvSpPr/>
          <p:nvPr/>
        </p:nvSpPr>
        <p:spPr>
          <a:xfrm>
            <a:off x="2862072"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Model training</a:t>
            </a:r>
            <a:endParaRPr lang="en-US" sz="950" dirty="0"/>
          </a:p>
        </p:txBody>
      </p:sp>
      <p:sp>
        <p:nvSpPr>
          <p:cNvPr id="14" name="Shape 11"/>
          <p:cNvSpPr/>
          <p:nvPr/>
        </p:nvSpPr>
        <p:spPr>
          <a:xfrm>
            <a:off x="3867912" y="1481328"/>
            <a:ext cx="228600" cy="256032"/>
          </a:xfrm>
          <a:prstGeom prst="chevron">
            <a:avLst/>
          </a:prstGeom>
          <a:solidFill>
            <a:srgbClr val="F28C28"/>
          </a:solidFill>
          <a:ln w="12700">
            <a:solidFill>
              <a:srgbClr val="F28C28"/>
            </a:solidFill>
            <a:prstDash val="solid"/>
          </a:ln>
        </p:spPr>
      </p:sp>
      <p:sp>
        <p:nvSpPr>
          <p:cNvPr id="15" name="Shape 12"/>
          <p:cNvSpPr/>
          <p:nvPr/>
        </p:nvSpPr>
        <p:spPr>
          <a:xfrm>
            <a:off x="4032504" y="1325880"/>
            <a:ext cx="1024128" cy="566928"/>
          </a:xfrm>
          <a:prstGeom prst="roundRect">
            <a:avLst/>
          </a:prstGeom>
          <a:solidFill>
            <a:srgbClr val="FFF7ED"/>
          </a:solidFill>
          <a:ln w="12700">
            <a:solidFill>
              <a:srgbClr val="F28C28"/>
            </a:solidFill>
            <a:prstDash val="solid"/>
          </a:ln>
        </p:spPr>
      </p:sp>
      <p:sp>
        <p:nvSpPr>
          <p:cNvPr id="16" name="Text 13"/>
          <p:cNvSpPr/>
          <p:nvPr/>
        </p:nvSpPr>
        <p:spPr>
          <a:xfrm>
            <a:off x="4069080"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Engines</a:t>
            </a:r>
            <a:endParaRPr lang="en-US" sz="950" dirty="0"/>
          </a:p>
        </p:txBody>
      </p:sp>
      <p:sp>
        <p:nvSpPr>
          <p:cNvPr id="17" name="Shape 14"/>
          <p:cNvSpPr/>
          <p:nvPr/>
        </p:nvSpPr>
        <p:spPr>
          <a:xfrm>
            <a:off x="5074920" y="1481328"/>
            <a:ext cx="228600" cy="256032"/>
          </a:xfrm>
          <a:prstGeom prst="chevron">
            <a:avLst/>
          </a:prstGeom>
          <a:solidFill>
            <a:srgbClr val="F28C28"/>
          </a:solidFill>
          <a:ln w="12700">
            <a:solidFill>
              <a:srgbClr val="F28C28"/>
            </a:solidFill>
            <a:prstDash val="solid"/>
          </a:ln>
        </p:spPr>
      </p:sp>
      <p:sp>
        <p:nvSpPr>
          <p:cNvPr id="18" name="Shape 15"/>
          <p:cNvSpPr/>
          <p:nvPr/>
        </p:nvSpPr>
        <p:spPr>
          <a:xfrm>
            <a:off x="5239512" y="1325880"/>
            <a:ext cx="1024128" cy="566928"/>
          </a:xfrm>
          <a:prstGeom prst="roundRect">
            <a:avLst/>
          </a:prstGeom>
          <a:solidFill>
            <a:srgbClr val="FFF7ED"/>
          </a:solidFill>
          <a:ln w="12700">
            <a:solidFill>
              <a:srgbClr val="F28C28"/>
            </a:solidFill>
            <a:prstDash val="solid"/>
          </a:ln>
        </p:spPr>
      </p:sp>
      <p:sp>
        <p:nvSpPr>
          <p:cNvPr id="19" name="Text 16"/>
          <p:cNvSpPr/>
          <p:nvPr/>
        </p:nvSpPr>
        <p:spPr>
          <a:xfrm>
            <a:off x="5276088"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Flask API</a:t>
            </a:r>
            <a:endParaRPr lang="en-US" sz="950" dirty="0"/>
          </a:p>
        </p:txBody>
      </p:sp>
      <p:sp>
        <p:nvSpPr>
          <p:cNvPr id="20" name="Shape 17"/>
          <p:cNvSpPr/>
          <p:nvPr/>
        </p:nvSpPr>
        <p:spPr>
          <a:xfrm>
            <a:off x="6281928" y="1481328"/>
            <a:ext cx="228600" cy="256032"/>
          </a:xfrm>
          <a:prstGeom prst="chevron">
            <a:avLst/>
          </a:prstGeom>
          <a:solidFill>
            <a:srgbClr val="F28C28"/>
          </a:solidFill>
          <a:ln w="12700">
            <a:solidFill>
              <a:srgbClr val="F28C28"/>
            </a:solidFill>
            <a:prstDash val="solid"/>
          </a:ln>
        </p:spPr>
      </p:sp>
      <p:sp>
        <p:nvSpPr>
          <p:cNvPr id="21" name="Shape 18"/>
          <p:cNvSpPr/>
          <p:nvPr/>
        </p:nvSpPr>
        <p:spPr>
          <a:xfrm>
            <a:off x="6446520" y="1325880"/>
            <a:ext cx="1024128" cy="566928"/>
          </a:xfrm>
          <a:prstGeom prst="roundRect">
            <a:avLst/>
          </a:prstGeom>
          <a:solidFill>
            <a:srgbClr val="FFF7ED"/>
          </a:solidFill>
          <a:ln w="12700">
            <a:solidFill>
              <a:srgbClr val="F28C28"/>
            </a:solidFill>
            <a:prstDash val="solid"/>
          </a:ln>
        </p:spPr>
      </p:sp>
      <p:sp>
        <p:nvSpPr>
          <p:cNvPr id="22" name="Text 19"/>
          <p:cNvSpPr/>
          <p:nvPr/>
        </p:nvSpPr>
        <p:spPr>
          <a:xfrm>
            <a:off x="6483096"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UI + honeypot</a:t>
            </a:r>
            <a:endParaRPr lang="en-US" sz="950" dirty="0"/>
          </a:p>
        </p:txBody>
      </p:sp>
      <p:sp>
        <p:nvSpPr>
          <p:cNvPr id="23" name="Shape 20"/>
          <p:cNvSpPr/>
          <p:nvPr/>
        </p:nvSpPr>
        <p:spPr>
          <a:xfrm>
            <a:off x="7488936" y="1481328"/>
            <a:ext cx="228600" cy="256032"/>
          </a:xfrm>
          <a:prstGeom prst="chevron">
            <a:avLst/>
          </a:prstGeom>
          <a:solidFill>
            <a:srgbClr val="F28C28"/>
          </a:solidFill>
          <a:ln w="12700">
            <a:solidFill>
              <a:srgbClr val="F28C28"/>
            </a:solidFill>
            <a:prstDash val="solid"/>
          </a:ln>
        </p:spPr>
      </p:sp>
      <p:sp>
        <p:nvSpPr>
          <p:cNvPr id="24" name="Shape 21"/>
          <p:cNvSpPr/>
          <p:nvPr/>
        </p:nvSpPr>
        <p:spPr>
          <a:xfrm>
            <a:off x="7653528" y="1325880"/>
            <a:ext cx="1024128" cy="566928"/>
          </a:xfrm>
          <a:prstGeom prst="roundRect">
            <a:avLst/>
          </a:prstGeom>
          <a:solidFill>
            <a:srgbClr val="FFF7ED"/>
          </a:solidFill>
          <a:ln w="12700">
            <a:solidFill>
              <a:srgbClr val="F28C28"/>
            </a:solidFill>
            <a:prstDash val="solid"/>
          </a:ln>
        </p:spPr>
      </p:sp>
      <p:sp>
        <p:nvSpPr>
          <p:cNvPr id="25" name="Text 22"/>
          <p:cNvSpPr/>
          <p:nvPr/>
        </p:nvSpPr>
        <p:spPr>
          <a:xfrm>
            <a:off x="7690104" y="1472184"/>
            <a:ext cx="950976" cy="201168"/>
          </a:xfrm>
          <a:prstGeom prst="rect">
            <a:avLst/>
          </a:prstGeom>
          <a:noFill/>
          <a:ln/>
        </p:spPr>
        <p:txBody>
          <a:bodyPr wrap="square" lIns="0" tIns="0" rIns="0" bIns="0" rtlCol="0" anchor="ctr"/>
          <a:lstStyle/>
          <a:p>
            <a:pPr algn="ctr" indent="0" marL="0">
              <a:buNone/>
            </a:pPr>
            <a:r>
              <a:rPr lang="en-US" sz="950" b="1" dirty="0">
                <a:solidFill>
                  <a:srgbClr val="12304A"/>
                </a:solidFill>
              </a:rPr>
              <a:t>Testing</a:t>
            </a:r>
            <a:endParaRPr lang="en-US" sz="950" dirty="0"/>
          </a:p>
        </p:txBody>
      </p:sp>
      <p:sp>
        <p:nvSpPr>
          <p:cNvPr id="26" name="Text 23"/>
          <p:cNvSpPr/>
          <p:nvPr/>
        </p:nvSpPr>
        <p:spPr>
          <a:xfrm>
            <a:off x="502920" y="2148840"/>
            <a:ext cx="3657600" cy="274320"/>
          </a:xfrm>
          <a:prstGeom prst="rect">
            <a:avLst/>
          </a:prstGeom>
          <a:noFill/>
          <a:ln/>
        </p:spPr>
        <p:txBody>
          <a:bodyPr wrap="square" lIns="0" tIns="0" rIns="0" bIns="0" rtlCol="0" anchor="ctr"/>
          <a:lstStyle/>
          <a:p>
            <a:pPr indent="0" marL="0">
              <a:buNone/>
            </a:pPr>
            <a:r>
              <a:rPr sz="1200" b="0">
                <a:solidFill>
                  <a:srgbClr val="444444"/>
                </a:solidFill>
                <a:latin typeface="Arial"/>
              </a:rPr>
              <a:t>Timeline: September - October 2026</a:t>
            </a:r>
            <a:endParaRPr lang="en-US" sz="1300" dirty="0"/>
          </a:p>
        </p:txBody>
      </p:sp>
      <p:sp>
        <p:nvSpPr>
          <p:cNvPr id="27" name="Text 24"/>
          <p:cNvSpPr/>
          <p:nvPr/>
        </p:nvSpPr>
        <p:spPr>
          <a:xfrm>
            <a:off x="5166360" y="2148840"/>
            <a:ext cx="2377440" cy="274320"/>
          </a:xfrm>
          <a:prstGeom prst="rect">
            <a:avLst/>
          </a:prstGeom>
          <a:noFill/>
          <a:ln/>
        </p:spPr>
        <p:txBody>
          <a:bodyPr wrap="square" lIns="0" tIns="0" rIns="0" bIns="0" rtlCol="0" anchor="ctr"/>
          <a:lstStyle/>
          <a:p>
            <a:pPr indent="0" marL="0">
              <a:buNone/>
            </a:pPr>
            <a:r>
              <a:rPr sz="1200" b="1">
                <a:solidFill>
                  <a:srgbClr val="F28C28"/>
                </a:solidFill>
                <a:latin typeface="Arial"/>
              </a:rPr>
              <a:t>Progress: 100% Core Engine &amp; Defense Verified</a:t>
            </a:r>
            <a:endParaRPr lang="en-US" sz="1300" dirty="0"/>
          </a:p>
        </p:txBody>
      </p:sp>
      <p:sp>
        <p:nvSpPr>
          <p:cNvPr id="28" name="Shape 25"/>
          <p:cNvSpPr/>
          <p:nvPr/>
        </p:nvSpPr>
        <p:spPr>
          <a:xfrm>
            <a:off x="5166360" y="2560320"/>
            <a:ext cx="3108960" cy="219456"/>
          </a:xfrm>
          <a:prstGeom prst="rect">
            <a:avLst/>
          </a:prstGeom>
          <a:solidFill>
            <a:srgbClr val="E9EEF2"/>
          </a:solidFill>
          <a:ln w="12700">
            <a:solidFill>
              <a:srgbClr val="D8E0E6"/>
            </a:solidFill>
            <a:prstDash val="solid"/>
          </a:ln>
        </p:spPr>
      </p:sp>
      <p:sp>
        <p:nvSpPr>
          <p:cNvPr id="29" name="Shape 26"/>
          <p:cNvSpPr/>
          <p:nvPr/>
        </p:nvSpPr>
        <p:spPr>
          <a:xfrm>
            <a:off x="5166360" y="2560320"/>
            <a:ext cx="3108960" cy="219456"/>
          </a:xfrm>
          <a:prstGeom prst="rect">
            <a:avLst/>
          </a:prstGeom>
          <a:solidFill>
            <a:srgbClr val="F28C28"/>
          </a:solidFill>
          <a:ln w="12700">
            <a:solidFill>
              <a:srgbClr val="F28C28"/>
            </a:solidFill>
            <a:prstDash val="solid"/>
          </a:ln>
        </p:spPr>
      </p:sp>
      <p:sp>
        <p:nvSpPr>
          <p:cNvPr id="30" name="Shape 27"/>
          <p:cNvSpPr/>
          <p:nvPr/>
        </p:nvSpPr>
        <p:spPr>
          <a:xfrm>
            <a:off x="502920" y="3063240"/>
            <a:ext cx="3886200" cy="2057400"/>
          </a:xfrm>
          <a:prstGeom prst="roundRect">
            <a:avLst>
              <a:gd name="adj" fmla="val 2222"/>
            </a:avLst>
          </a:prstGeom>
          <a:solidFill>
            <a:srgbClr val="F9FBFD"/>
          </a:solidFill>
          <a:ln w="12700">
            <a:solidFill>
              <a:srgbClr val="D6E2EA"/>
            </a:solidFill>
            <a:prstDash val="solid"/>
          </a:ln>
        </p:spPr>
      </p:sp>
      <p:sp>
        <p:nvSpPr>
          <p:cNvPr id="31" name="Text 28"/>
          <p:cNvSpPr/>
          <p:nvPr/>
        </p:nvSpPr>
        <p:spPr>
          <a:xfrm>
            <a:off x="612648" y="3154680"/>
            <a:ext cx="3666744" cy="256032"/>
          </a:xfrm>
          <a:prstGeom prst="rect">
            <a:avLst/>
          </a:prstGeom>
          <a:noFill/>
          <a:ln/>
        </p:spPr>
        <p:txBody>
          <a:bodyPr wrap="square" lIns="0" tIns="0" rIns="0" bIns="0" rtlCol="0" anchor="ctr"/>
          <a:lstStyle/>
          <a:p>
            <a:pPr indent="0" marL="0">
              <a:buNone/>
            </a:pPr>
            <a:r>
              <a:rPr sz="1300" b="1">
                <a:solidFill>
                  <a:srgbClr val="F28C28"/>
                </a:solidFill>
                <a:latin typeface="Arial"/>
              </a:rPr>
              <a:t>Done (100% Engine &amp; Defense Verified)</a:t>
            </a:r>
            <a:endParaRPr lang="en-US" sz="1300" dirty="0"/>
          </a:p>
        </p:txBody>
      </p:sp>
      <p:sp>
        <p:nvSpPr>
          <p:cNvPr id="32" name="Text 29"/>
          <p:cNvSpPr/>
          <p:nvPr/>
        </p:nvSpPr>
        <p:spPr>
          <a:xfrm>
            <a:off x="640080" y="3502152"/>
            <a:ext cx="3611880" cy="1527048"/>
          </a:xfrm>
          <a:prstGeom prst="rect">
            <a:avLst/>
          </a:prstGeom>
          <a:noFill/>
          <a:ln/>
        </p:spPr>
        <p:txBody>
          <a:bodyPr wrap="square" lIns="254" tIns="254" rIns="254" bIns="254" rtlCol="0" anchor="ctr">
            <a:normAutofit/>
          </a:bodyPr>
          <a:lstStyle/>
          <a:p>
            <a:pPr marL="127000" indent="-127000">
              <a:buSzPct val="100000"/>
              <a:buChar char="•"/>
            </a:pPr>
            <a:r>
              <a:rPr sz="1050" b="0">
                <a:solidFill>
                  <a:srgbClr val="12304A"/>
                </a:solidFill>
                <a:latin typeface="Arial"/>
              </a:rPr>
              <a:t>* 4 telemetry CSV datasets and 3 trained XGBoost models + serialized pipelines.</a:t>
            </a:r>
            <a:endParaRPr lang="en-US" sz="1150" dirty="0"/>
          </a:p>
          <a:p>
            <a:r>
              <a:rPr sz="1050" b="0">
                <a:solidFill>
                  <a:srgbClr val="12304A"/>
                </a:solidFill>
                <a:latin typeface="Arial"/>
              </a:rPr>
              <a:t>* 60Hz Shannon biometrics engine, keystroke dynamics analyzer, Haversine &amp; Levenshtein engines.</a:t>
            </a:r>
          </a:p>
          <a:p>
            <a:r>
              <a:rPr sz="1050" b="0">
                <a:solidFill>
                  <a:srgbClr val="12304A"/>
                </a:solidFill>
                <a:latin typeface="Arial"/>
              </a:rPr>
              <a:t>* 9 REST API endpoints, 5 responsive portals, Chrome extension bot simulator, VS Code setup.</a:t>
            </a:r>
          </a:p>
          <a:p>
            <a:r>
              <a:rPr sz="1050" b="0">
                <a:solidFill>
                  <a:srgbClr val="12304A"/>
                </a:solidFill>
                <a:latin typeface="Arial"/>
              </a:rPr>
              <a:t>* 2,400ms PoW honeypot tarpit, ghost banking sandbox, decoy wire interceptor (mule_sweep01@okaxis).</a:t>
            </a:r>
          </a:p>
          <a:p>
            <a:r>
              <a:rPr sz="1050" b="0">
                <a:solidFill>
                  <a:srgbClr val="12304A"/>
                </a:solidFill>
                <a:latin typeface="Arial"/>
              </a:rPr>
              <a:t>* Automated benchmark test suite with 100.00% detection accuracy on test_bot_csv.py.</a:t>
            </a:r>
          </a:p>
        </p:txBody>
      </p:sp>
      <p:sp>
        <p:nvSpPr>
          <p:cNvPr id="33" name="Shape 30"/>
          <p:cNvSpPr/>
          <p:nvPr/>
        </p:nvSpPr>
        <p:spPr>
          <a:xfrm>
            <a:off x="4617720" y="3063240"/>
            <a:ext cx="3886200" cy="2057400"/>
          </a:xfrm>
          <a:prstGeom prst="roundRect">
            <a:avLst>
              <a:gd name="adj" fmla="val 2222"/>
            </a:avLst>
          </a:prstGeom>
          <a:solidFill>
            <a:srgbClr val="F9FBFD"/>
          </a:solidFill>
          <a:ln w="12700">
            <a:solidFill>
              <a:srgbClr val="D6E2EA"/>
            </a:solidFill>
            <a:prstDash val="solid"/>
          </a:ln>
        </p:spPr>
      </p:sp>
      <p:sp>
        <p:nvSpPr>
          <p:cNvPr id="34" name="Text 31"/>
          <p:cNvSpPr/>
          <p:nvPr/>
        </p:nvSpPr>
        <p:spPr>
          <a:xfrm>
            <a:off x="4727448" y="3154680"/>
            <a:ext cx="3666744" cy="256032"/>
          </a:xfrm>
          <a:prstGeom prst="rect">
            <a:avLst/>
          </a:prstGeom>
          <a:noFill/>
          <a:ln/>
        </p:spPr>
        <p:txBody>
          <a:bodyPr wrap="square" lIns="0" tIns="0" rIns="0" bIns="0" rtlCol="0" anchor="ctr"/>
          <a:lstStyle/>
          <a:p>
            <a:pPr indent="0" marL="0">
              <a:buNone/>
            </a:pPr>
            <a:r>
              <a:rPr sz="1300" b="1">
                <a:solidFill>
                  <a:srgbClr val="F28C28"/>
                </a:solidFill>
                <a:latin typeface="Arial"/>
              </a:rPr>
              <a:t>Future Milestones</a:t>
            </a:r>
            <a:endParaRPr lang="en-US" sz="1300" dirty="0"/>
          </a:p>
        </p:txBody>
      </p:sp>
      <p:sp>
        <p:nvSpPr>
          <p:cNvPr id="35" name="Text 32"/>
          <p:cNvSpPr/>
          <p:nvPr/>
        </p:nvSpPr>
        <p:spPr>
          <a:xfrm>
            <a:off x="4754880" y="3502152"/>
            <a:ext cx="3611880" cy="152704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Signed mobile-SDK telemetry integration for native Android/iOS banking applications.</a:t>
            </a:r>
            <a:endParaRPr lang="en-US" sz="1150" dirty="0"/>
          </a:p>
          <a:p>
            <a:r>
              <a:rPr sz="1100" b="0">
                <a:solidFill>
                  <a:srgbClr val="12304A"/>
                </a:solidFill>
                <a:latin typeface="Arial"/>
              </a:rPr>
              <a:t>* Distributed Redis cache cluster for cross-region velocity state and persistent mule graph DB.</a:t>
            </a:r>
          </a:p>
          <a:p>
            <a:r>
              <a:rPr sz="1100" b="0">
                <a:solidFill>
                  <a:srgbClr val="12304A"/>
                </a:solidFill>
                <a:latin typeface="Arial"/>
              </a:rPr>
              <a:t>* Automated CI/CD retraining loop and Kubernetes containerized edge orchestration.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Working Model</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502920" y="758952"/>
            <a:ext cx="7955280" cy="274320"/>
          </a:xfrm>
          <a:prstGeom prst="rect">
            <a:avLst/>
          </a:prstGeom>
          <a:noFill/>
          <a:ln/>
        </p:spPr>
        <p:txBody>
          <a:bodyPr wrap="square" lIns="0" tIns="0" rIns="0" bIns="0" rtlCol="0" anchor="ctr"/>
          <a:lstStyle/>
          <a:p>
            <a:pPr indent="0" marL="0">
              <a:buNone/>
            </a:pPr>
            <a:r>
              <a:rPr sz="1200" b="1">
                <a:solidFill>
                  <a:srgbClr val="12304A"/>
                </a:solidFill>
                <a:latin typeface="Arial"/>
              </a:rPr>
              <a:t>SRS completed  |  Live demo: /demo &amp; Extension  |  10/10 Attack Benchmarks Verified</a:t>
            </a:r>
            <a:endParaRPr lang="en-US" sz="1200" dirty="0"/>
          </a:p>
        </p:txBody>
      </p:sp>
      <p:sp>
        <p:nvSpPr>
          <p:cNvPr id="6" name="Shape 3"/>
          <p:cNvSpPr/>
          <p:nvPr/>
        </p:nvSpPr>
        <p:spPr>
          <a:xfrm>
            <a:off x="502920" y="1325880"/>
            <a:ext cx="1353312" cy="822960"/>
          </a:xfrm>
          <a:prstGeom prst="roundRect">
            <a:avLst/>
          </a:prstGeom>
          <a:solidFill>
            <a:srgbClr val="F8FBFD"/>
          </a:solidFill>
          <a:ln w="15240">
            <a:solidFill>
              <a:srgbClr val="9FB5C4"/>
            </a:solidFill>
            <a:prstDash val="solid"/>
          </a:ln>
        </p:spPr>
      </p:sp>
      <p:sp>
        <p:nvSpPr>
          <p:cNvPr id="7" name="Text 4"/>
          <p:cNvSpPr/>
          <p:nvPr/>
        </p:nvSpPr>
        <p:spPr>
          <a:xfrm>
            <a:off x="557784" y="1490472"/>
            <a:ext cx="1243584" cy="201168"/>
          </a:xfrm>
          <a:prstGeom prst="rect">
            <a:avLst/>
          </a:prstGeom>
          <a:noFill/>
          <a:ln/>
        </p:spPr>
        <p:txBody>
          <a:bodyPr wrap="square" lIns="0" tIns="0" rIns="0" bIns="0" rtlCol="0" anchor="ctr"/>
          <a:lstStyle/>
          <a:p>
            <a:pPr algn="ctr" indent="0" marL="0">
              <a:buNone/>
            </a:pPr>
            <a:r>
              <a:rPr sz="1000" b="1">
                <a:solidFill>
                  <a:srgbClr val="12304A"/>
                </a:solidFill>
                <a:latin typeface="Arial"/>
              </a:rPr>
              <a:t>Client UI &amp; sensors</a:t>
            </a:r>
            <a:endParaRPr lang="en-US" sz="1050" dirty="0"/>
          </a:p>
        </p:txBody>
      </p:sp>
      <p:sp>
        <p:nvSpPr>
          <p:cNvPr id="8" name="Text 5"/>
          <p:cNvSpPr/>
          <p:nvPr/>
        </p:nvSpPr>
        <p:spPr>
          <a:xfrm>
            <a:off x="557784" y="1783080"/>
            <a:ext cx="1243584" cy="164592"/>
          </a:xfrm>
          <a:prstGeom prst="rect">
            <a:avLst/>
          </a:prstGeom>
          <a:noFill/>
          <a:ln/>
        </p:spPr>
        <p:txBody>
          <a:bodyPr wrap="square" lIns="0" tIns="0" rIns="0" bIns="0" rtlCol="0" anchor="ctr"/>
          <a:lstStyle/>
          <a:p>
            <a:pPr algn="ctr" indent="0" marL="0">
              <a:buNone/>
            </a:pPr>
            <a:r>
              <a:rPr sz="800" b="0">
                <a:solidFill>
                  <a:srgbClr val="444444"/>
                </a:solidFill>
                <a:latin typeface="Arial"/>
              </a:rPr>
              <a:t>60Hz Biometrics / JSON</a:t>
            </a:r>
            <a:endParaRPr lang="en-US" sz="850" dirty="0"/>
          </a:p>
        </p:txBody>
      </p:sp>
      <p:sp>
        <p:nvSpPr>
          <p:cNvPr id="9" name="Shape 6"/>
          <p:cNvSpPr/>
          <p:nvPr/>
        </p:nvSpPr>
        <p:spPr>
          <a:xfrm>
            <a:off x="1874520" y="1581912"/>
            <a:ext cx="219456" cy="256032"/>
          </a:xfrm>
          <a:prstGeom prst="chevron">
            <a:avLst/>
          </a:prstGeom>
          <a:solidFill>
            <a:srgbClr val="F28C28"/>
          </a:solidFill>
          <a:ln w="12700">
            <a:solidFill>
              <a:srgbClr val="F28C28"/>
            </a:solidFill>
            <a:prstDash val="solid"/>
          </a:ln>
        </p:spPr>
      </p:sp>
      <p:sp>
        <p:nvSpPr>
          <p:cNvPr id="10" name="Shape 7"/>
          <p:cNvSpPr/>
          <p:nvPr/>
        </p:nvSpPr>
        <p:spPr>
          <a:xfrm>
            <a:off x="2130552" y="1325880"/>
            <a:ext cx="1353312" cy="822960"/>
          </a:xfrm>
          <a:prstGeom prst="roundRect">
            <a:avLst/>
          </a:prstGeom>
          <a:solidFill>
            <a:srgbClr val="F8FBFD"/>
          </a:solidFill>
          <a:ln w="15240">
            <a:solidFill>
              <a:srgbClr val="9FB5C4"/>
            </a:solidFill>
            <a:prstDash val="solid"/>
          </a:ln>
        </p:spPr>
      </p:sp>
      <p:sp>
        <p:nvSpPr>
          <p:cNvPr id="11" name="Text 8"/>
          <p:cNvSpPr/>
          <p:nvPr/>
        </p:nvSpPr>
        <p:spPr>
          <a:xfrm>
            <a:off x="2185416" y="1490472"/>
            <a:ext cx="1243584" cy="201168"/>
          </a:xfrm>
          <a:prstGeom prst="rect">
            <a:avLst/>
          </a:prstGeom>
          <a:noFill/>
          <a:ln/>
        </p:spPr>
        <p:txBody>
          <a:bodyPr wrap="square" lIns="0" tIns="0" rIns="0" bIns="0" rtlCol="0" anchor="ctr"/>
          <a:lstStyle/>
          <a:p>
            <a:pPr algn="ctr" indent="0" marL="0">
              <a:buNone/>
            </a:pPr>
            <a:r>
              <a:rPr sz="1000" b="1">
                <a:solidFill>
                  <a:srgbClr val="12304A"/>
                </a:solidFill>
                <a:latin typeface="Arial"/>
              </a:rPr>
              <a:t>Flask REST API</a:t>
            </a:r>
            <a:endParaRPr lang="en-US" sz="1050" dirty="0"/>
          </a:p>
        </p:txBody>
      </p:sp>
      <p:sp>
        <p:nvSpPr>
          <p:cNvPr id="12" name="Text 9"/>
          <p:cNvSpPr/>
          <p:nvPr/>
        </p:nvSpPr>
        <p:spPr>
          <a:xfrm>
            <a:off x="2185416" y="1783080"/>
            <a:ext cx="1243584" cy="164592"/>
          </a:xfrm>
          <a:prstGeom prst="rect">
            <a:avLst/>
          </a:prstGeom>
          <a:noFill/>
          <a:ln/>
        </p:spPr>
        <p:txBody>
          <a:bodyPr wrap="square" lIns="0" tIns="0" rIns="0" bIns="0" rtlCol="0" anchor="ctr"/>
          <a:lstStyle/>
          <a:p>
            <a:pPr algn="ctr" indent="0" marL="0">
              <a:buNone/>
            </a:pPr>
            <a:r>
              <a:rPr sz="800" b="0">
                <a:solidFill>
                  <a:srgbClr val="444444"/>
                </a:solidFill>
                <a:latin typeface="Arial"/>
              </a:rPr>
              <a:t>9 REST endpoints</a:t>
            </a:r>
            <a:endParaRPr lang="en-US" sz="850" dirty="0"/>
          </a:p>
        </p:txBody>
      </p:sp>
      <p:sp>
        <p:nvSpPr>
          <p:cNvPr id="13" name="Shape 10"/>
          <p:cNvSpPr/>
          <p:nvPr/>
        </p:nvSpPr>
        <p:spPr>
          <a:xfrm>
            <a:off x="3502152" y="1581912"/>
            <a:ext cx="219456" cy="256032"/>
          </a:xfrm>
          <a:prstGeom prst="chevron">
            <a:avLst/>
          </a:prstGeom>
          <a:solidFill>
            <a:srgbClr val="F28C28"/>
          </a:solidFill>
          <a:ln w="12700">
            <a:solidFill>
              <a:srgbClr val="F28C28"/>
            </a:solidFill>
            <a:prstDash val="solid"/>
          </a:ln>
        </p:spPr>
      </p:sp>
      <p:sp>
        <p:nvSpPr>
          <p:cNvPr id="14" name="Shape 11"/>
          <p:cNvSpPr/>
          <p:nvPr/>
        </p:nvSpPr>
        <p:spPr>
          <a:xfrm>
            <a:off x="3758184" y="1325880"/>
            <a:ext cx="1353312" cy="822960"/>
          </a:xfrm>
          <a:prstGeom prst="roundRect">
            <a:avLst/>
          </a:prstGeom>
          <a:solidFill>
            <a:srgbClr val="F8FBFD"/>
          </a:solidFill>
          <a:ln w="15240">
            <a:solidFill>
              <a:srgbClr val="9FB5C4"/>
            </a:solidFill>
            <a:prstDash val="solid"/>
          </a:ln>
        </p:spPr>
      </p:sp>
      <p:sp>
        <p:nvSpPr>
          <p:cNvPr id="15" name="Text 12"/>
          <p:cNvSpPr/>
          <p:nvPr/>
        </p:nvSpPr>
        <p:spPr>
          <a:xfrm>
            <a:off x="3813048" y="1490472"/>
            <a:ext cx="1243584" cy="201168"/>
          </a:xfrm>
          <a:prstGeom prst="rect">
            <a:avLst/>
          </a:prstGeom>
          <a:noFill/>
          <a:ln/>
        </p:spPr>
        <p:txBody>
          <a:bodyPr wrap="square" lIns="0" tIns="0" rIns="0" bIns="0" rtlCol="0" anchor="ctr"/>
          <a:lstStyle/>
          <a:p>
            <a:pPr algn="ctr" indent="0" marL="0">
              <a:buNone/>
            </a:pPr>
            <a:r>
              <a:rPr sz="1000" b="1">
                <a:solidFill>
                  <a:srgbClr val="12304A"/>
                </a:solidFill>
                <a:latin typeface="Arial"/>
              </a:rPr>
              <a:t>Risk engines</a:t>
            </a:r>
            <a:endParaRPr lang="en-US" sz="1050" dirty="0"/>
          </a:p>
        </p:txBody>
      </p:sp>
      <p:sp>
        <p:nvSpPr>
          <p:cNvPr id="16" name="Text 13"/>
          <p:cNvSpPr/>
          <p:nvPr/>
        </p:nvSpPr>
        <p:spPr>
          <a:xfrm>
            <a:off x="3813048" y="1783080"/>
            <a:ext cx="1243584" cy="164592"/>
          </a:xfrm>
          <a:prstGeom prst="rect">
            <a:avLst/>
          </a:prstGeom>
          <a:noFill/>
          <a:ln/>
        </p:spPr>
        <p:txBody>
          <a:bodyPr wrap="square" lIns="0" tIns="0" rIns="0" bIns="0" rtlCol="0" anchor="ctr"/>
          <a:lstStyle/>
          <a:p>
            <a:pPr algn="ctr" indent="0" marL="0">
              <a:buNone/>
            </a:pPr>
            <a:r>
              <a:rPr sz="800" b="0">
                <a:solidFill>
                  <a:srgbClr val="444444"/>
                </a:solidFill>
                <a:latin typeface="Arial"/>
              </a:rPr>
              <a:t>3 XGBoost + VPA + Geo + H</a:t>
            </a:r>
            <a:endParaRPr lang="en-US" sz="850" dirty="0"/>
          </a:p>
        </p:txBody>
      </p:sp>
      <p:sp>
        <p:nvSpPr>
          <p:cNvPr id="17" name="Shape 14"/>
          <p:cNvSpPr/>
          <p:nvPr/>
        </p:nvSpPr>
        <p:spPr>
          <a:xfrm>
            <a:off x="5129784" y="1581912"/>
            <a:ext cx="219456" cy="256032"/>
          </a:xfrm>
          <a:prstGeom prst="chevron">
            <a:avLst/>
          </a:prstGeom>
          <a:solidFill>
            <a:srgbClr val="F28C28"/>
          </a:solidFill>
          <a:ln w="12700">
            <a:solidFill>
              <a:srgbClr val="F28C28"/>
            </a:solidFill>
            <a:prstDash val="solid"/>
          </a:ln>
        </p:spPr>
      </p:sp>
      <p:sp>
        <p:nvSpPr>
          <p:cNvPr id="18" name="Shape 15"/>
          <p:cNvSpPr/>
          <p:nvPr/>
        </p:nvSpPr>
        <p:spPr>
          <a:xfrm>
            <a:off x="5385816" y="1325880"/>
            <a:ext cx="1353312" cy="822960"/>
          </a:xfrm>
          <a:prstGeom prst="roundRect">
            <a:avLst/>
          </a:prstGeom>
          <a:solidFill>
            <a:srgbClr val="FFF4E6"/>
          </a:solidFill>
          <a:ln w="15240">
            <a:solidFill>
              <a:srgbClr val="F28C28"/>
            </a:solidFill>
            <a:prstDash val="solid"/>
          </a:ln>
        </p:spPr>
      </p:sp>
      <p:sp>
        <p:nvSpPr>
          <p:cNvPr id="19" name="Text 16"/>
          <p:cNvSpPr/>
          <p:nvPr/>
        </p:nvSpPr>
        <p:spPr>
          <a:xfrm>
            <a:off x="5440680" y="1490472"/>
            <a:ext cx="1243584" cy="201168"/>
          </a:xfrm>
          <a:prstGeom prst="rect">
            <a:avLst/>
          </a:prstGeom>
          <a:noFill/>
          <a:ln/>
        </p:spPr>
        <p:txBody>
          <a:bodyPr wrap="square" lIns="0" tIns="0" rIns="0" bIns="0" rtlCol="0" anchor="ctr"/>
          <a:lstStyle/>
          <a:p>
            <a:pPr algn="ctr" indent="0" marL="0">
              <a:buNone/>
            </a:pPr>
            <a:r>
              <a:rPr sz="1000" b="1">
                <a:solidFill>
                  <a:srgbClr val="12304A"/>
                </a:solidFill>
                <a:latin typeface="Arial"/>
              </a:rPr>
              <a:t>Decision switch</a:t>
            </a:r>
            <a:endParaRPr lang="en-US" sz="1050" dirty="0"/>
          </a:p>
        </p:txBody>
      </p:sp>
      <p:sp>
        <p:nvSpPr>
          <p:cNvPr id="20" name="Text 17"/>
          <p:cNvSpPr/>
          <p:nvPr/>
        </p:nvSpPr>
        <p:spPr>
          <a:xfrm>
            <a:off x="5440680" y="1783080"/>
            <a:ext cx="1243584" cy="164592"/>
          </a:xfrm>
          <a:prstGeom prst="rect">
            <a:avLst/>
          </a:prstGeom>
          <a:noFill/>
          <a:ln/>
        </p:spPr>
        <p:txBody>
          <a:bodyPr wrap="square" lIns="0" tIns="0" rIns="0" bIns="0" rtlCol="0" anchor="ctr"/>
          <a:lstStyle/>
          <a:p>
            <a:pPr algn="ctr" indent="0" marL="0">
              <a:buNone/>
            </a:pPr>
            <a:r>
              <a:rPr sz="750" b="0">
                <a:solidFill>
                  <a:srgbClr val="444444"/>
                </a:solidFill>
                <a:latin typeface="Arial"/>
              </a:rPr>
              <a:t>4 Tiers (Approve/Friction/Block/Tarpit)</a:t>
            </a:r>
            <a:endParaRPr lang="en-US" sz="850" dirty="0"/>
          </a:p>
        </p:txBody>
      </p:sp>
      <p:sp>
        <p:nvSpPr>
          <p:cNvPr id="21" name="Shape 18"/>
          <p:cNvSpPr/>
          <p:nvPr/>
        </p:nvSpPr>
        <p:spPr>
          <a:xfrm>
            <a:off x="6757416" y="1581912"/>
            <a:ext cx="219456" cy="256032"/>
          </a:xfrm>
          <a:prstGeom prst="chevron">
            <a:avLst/>
          </a:prstGeom>
          <a:solidFill>
            <a:srgbClr val="F28C28"/>
          </a:solidFill>
          <a:ln w="12700">
            <a:solidFill>
              <a:srgbClr val="F28C28"/>
            </a:solidFill>
            <a:prstDash val="solid"/>
          </a:ln>
        </p:spPr>
      </p:sp>
      <p:sp>
        <p:nvSpPr>
          <p:cNvPr id="22" name="Shape 19"/>
          <p:cNvSpPr/>
          <p:nvPr/>
        </p:nvSpPr>
        <p:spPr>
          <a:xfrm>
            <a:off x="7013448" y="1325880"/>
            <a:ext cx="1353312" cy="822960"/>
          </a:xfrm>
          <a:prstGeom prst="roundRect">
            <a:avLst/>
          </a:prstGeom>
          <a:solidFill>
            <a:srgbClr val="F8FBFD"/>
          </a:solidFill>
          <a:ln w="15240">
            <a:solidFill>
              <a:srgbClr val="9FB5C4"/>
            </a:solidFill>
            <a:prstDash val="solid"/>
          </a:ln>
        </p:spPr>
      </p:sp>
      <p:sp>
        <p:nvSpPr>
          <p:cNvPr id="23" name="Text 20"/>
          <p:cNvSpPr/>
          <p:nvPr/>
        </p:nvSpPr>
        <p:spPr>
          <a:xfrm>
            <a:off x="7068312" y="1490472"/>
            <a:ext cx="1243584" cy="201168"/>
          </a:xfrm>
          <a:prstGeom prst="rect">
            <a:avLst/>
          </a:prstGeom>
          <a:noFill/>
          <a:ln/>
        </p:spPr>
        <p:txBody>
          <a:bodyPr wrap="square" lIns="0" tIns="0" rIns="0" bIns="0" rtlCol="0" anchor="ctr"/>
          <a:lstStyle/>
          <a:p>
            <a:pPr algn="ctr" indent="0" marL="0">
              <a:buNone/>
            </a:pPr>
            <a:r>
              <a:rPr sz="1000" b="1">
                <a:solidFill>
                  <a:srgbClr val="12304A"/>
                </a:solidFill>
                <a:latin typeface="Arial"/>
              </a:rPr>
              <a:t>Honeypot Tarpit</a:t>
            </a:r>
            <a:endParaRPr lang="en-US" sz="1050" dirty="0"/>
          </a:p>
        </p:txBody>
      </p:sp>
      <p:sp>
        <p:nvSpPr>
          <p:cNvPr id="24" name="Text 21"/>
          <p:cNvSpPr/>
          <p:nvPr/>
        </p:nvSpPr>
        <p:spPr>
          <a:xfrm>
            <a:off x="7068312" y="1783080"/>
            <a:ext cx="1243584" cy="164592"/>
          </a:xfrm>
          <a:prstGeom prst="rect">
            <a:avLst/>
          </a:prstGeom>
          <a:noFill/>
          <a:ln/>
        </p:spPr>
        <p:txBody>
          <a:bodyPr wrap="square" lIns="0" tIns="0" rIns="0" bIns="0" rtlCol="0" anchor="ctr"/>
          <a:lstStyle/>
          <a:p>
            <a:pPr algn="ctr" indent="0" marL="0">
              <a:buNone/>
            </a:pPr>
            <a:r>
              <a:rPr sz="800" b="0">
                <a:solidFill>
                  <a:srgbClr val="444444"/>
                </a:solidFill>
                <a:latin typeface="Arial"/>
              </a:rPr>
              <a:t>2,400ms Stall + Decoy wire</a:t>
            </a:r>
            <a:endParaRPr lang="en-US" sz="850" dirty="0"/>
          </a:p>
        </p:txBody>
      </p:sp>
      <p:sp>
        <p:nvSpPr>
          <p:cNvPr id="25" name="Shape 22"/>
          <p:cNvSpPr/>
          <p:nvPr/>
        </p:nvSpPr>
        <p:spPr>
          <a:xfrm>
            <a:off x="502920" y="2514600"/>
            <a:ext cx="2560320" cy="1325880"/>
          </a:xfrm>
          <a:prstGeom prst="roundRect">
            <a:avLst>
              <a:gd name="adj" fmla="val 3448"/>
            </a:avLst>
          </a:prstGeom>
          <a:solidFill>
            <a:srgbClr val="F9FBFD"/>
          </a:solidFill>
          <a:ln w="12700">
            <a:solidFill>
              <a:srgbClr val="D6E2EA"/>
            </a:solidFill>
            <a:prstDash val="solid"/>
          </a:ln>
        </p:spPr>
      </p:sp>
      <p:sp>
        <p:nvSpPr>
          <p:cNvPr id="26" name="Text 23"/>
          <p:cNvSpPr/>
          <p:nvPr/>
        </p:nvSpPr>
        <p:spPr>
          <a:xfrm>
            <a:off x="612648" y="2606040"/>
            <a:ext cx="2340864" cy="256032"/>
          </a:xfrm>
          <a:prstGeom prst="rect">
            <a:avLst/>
          </a:prstGeom>
          <a:noFill/>
          <a:ln/>
        </p:spPr>
        <p:txBody>
          <a:bodyPr wrap="square" lIns="0" tIns="0" rIns="0" bIns="0" rtlCol="0" anchor="ctr"/>
          <a:lstStyle/>
          <a:p>
            <a:pPr indent="0" marL="0">
              <a:buNone/>
            </a:pPr>
            <a:r>
              <a:rPr sz="1300" b="1">
                <a:solidFill>
                  <a:srgbClr val="F28C28"/>
                </a:solidFill>
                <a:latin typeface="Arial"/>
              </a:rPr>
              <a:t>Working modules</a:t>
            </a:r>
            <a:endParaRPr lang="en-US" sz="1300" dirty="0"/>
          </a:p>
        </p:txBody>
      </p:sp>
      <p:sp>
        <p:nvSpPr>
          <p:cNvPr id="27" name="Text 24"/>
          <p:cNvSpPr/>
          <p:nvPr/>
        </p:nvSpPr>
        <p:spPr>
          <a:xfrm>
            <a:off x="640080" y="2953512"/>
            <a:ext cx="2286000" cy="79552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Login, Card velocity, and Unified UPI scoring engines.</a:t>
            </a:r>
            <a:endParaRPr lang="en-US" sz="1150" dirty="0"/>
          </a:p>
          <a:p>
            <a:r>
              <a:rPr sz="1100" b="0">
                <a:solidFill>
                  <a:srgbClr val="12304A"/>
                </a:solidFill>
                <a:latin typeface="Arial"/>
              </a:rPr>
              <a:t>* 60Hz Shannon directional entropy &amp; keystroke dynamics sensor.</a:t>
            </a:r>
          </a:p>
          <a:p>
            <a:r>
              <a:rPr sz="1100" b="0">
                <a:solidFill>
                  <a:srgbClr val="12304A"/>
                </a:solidFill>
                <a:latin typeface="Arial"/>
              </a:rPr>
              <a:t>* VPA Levenshtein checker, PoW tarpit, and STUN IP attribution.</a:t>
            </a:r>
          </a:p>
        </p:txBody>
      </p:sp>
      <p:sp>
        <p:nvSpPr>
          <p:cNvPr id="28" name="Shape 25"/>
          <p:cNvSpPr/>
          <p:nvPr/>
        </p:nvSpPr>
        <p:spPr>
          <a:xfrm>
            <a:off x="3291840" y="2514600"/>
            <a:ext cx="2560320" cy="1325880"/>
          </a:xfrm>
          <a:prstGeom prst="roundRect">
            <a:avLst>
              <a:gd name="adj" fmla="val 3448"/>
            </a:avLst>
          </a:prstGeom>
          <a:solidFill>
            <a:srgbClr val="F9FBFD"/>
          </a:solidFill>
          <a:ln w="12700">
            <a:solidFill>
              <a:srgbClr val="D6E2EA"/>
            </a:solidFill>
            <a:prstDash val="solid"/>
          </a:ln>
        </p:spPr>
      </p:sp>
      <p:sp>
        <p:nvSpPr>
          <p:cNvPr id="29" name="Text 26"/>
          <p:cNvSpPr/>
          <p:nvPr/>
        </p:nvSpPr>
        <p:spPr>
          <a:xfrm>
            <a:off x="3401568" y="2606040"/>
            <a:ext cx="2340864" cy="256032"/>
          </a:xfrm>
          <a:prstGeom prst="rect">
            <a:avLst/>
          </a:prstGeom>
          <a:noFill/>
          <a:ln/>
        </p:spPr>
        <p:txBody>
          <a:bodyPr wrap="square" lIns="0" tIns="0" rIns="0" bIns="0" rtlCol="0" anchor="ctr"/>
          <a:lstStyle/>
          <a:p>
            <a:pPr indent="0" marL="0">
              <a:buNone/>
            </a:pPr>
            <a:r>
              <a:rPr sz="1300" b="1">
                <a:solidFill>
                  <a:srgbClr val="F28C28"/>
                </a:solidFill>
                <a:latin typeface="Arial"/>
              </a:rPr>
              <a:t>Decision tiers</a:t>
            </a:r>
            <a:endParaRPr lang="en-US" sz="1300" dirty="0"/>
          </a:p>
        </p:txBody>
      </p:sp>
      <p:sp>
        <p:nvSpPr>
          <p:cNvPr id="30" name="Text 27"/>
          <p:cNvSpPr/>
          <p:nvPr/>
        </p:nvSpPr>
        <p:spPr>
          <a:xfrm>
            <a:off x="3429000" y="2953512"/>
            <a:ext cx="2286000" cy="79552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P &lt; 0.30: Approve (Instant execution).</a:t>
            </a:r>
            <a:endParaRPr lang="en-US" sz="1150" dirty="0"/>
          </a:p>
          <a:p>
            <a:r>
              <a:rPr sz="1100" b="0">
                <a:solidFill>
                  <a:srgbClr val="12304A"/>
                </a:solidFill>
                <a:latin typeface="Arial"/>
              </a:rPr>
              <a:t>* 0.30 - 0.70: Friction (5s Pre-PIN cooldown &amp; biometric challenge).</a:t>
            </a:r>
          </a:p>
          <a:p>
            <a:r>
              <a:rPr sz="1100" b="0">
                <a:solidFill>
                  <a:srgbClr val="12304A"/>
                </a:solidFill>
                <a:latin typeface="Arial"/>
              </a:rPr>
              <a:t>* P &gt; 0.70: Block | Bot: Honeypot Tarpit (2,400ms PoW stall).</a:t>
            </a:r>
          </a:p>
        </p:txBody>
      </p:sp>
      <p:sp>
        <p:nvSpPr>
          <p:cNvPr id="31" name="Shape 28"/>
          <p:cNvSpPr/>
          <p:nvPr/>
        </p:nvSpPr>
        <p:spPr>
          <a:xfrm>
            <a:off x="6080760" y="2514600"/>
            <a:ext cx="2560320" cy="1325880"/>
          </a:xfrm>
          <a:prstGeom prst="roundRect">
            <a:avLst>
              <a:gd name="adj" fmla="val 3448"/>
            </a:avLst>
          </a:prstGeom>
          <a:solidFill>
            <a:srgbClr val="F9FBFD"/>
          </a:solidFill>
          <a:ln w="12700">
            <a:solidFill>
              <a:srgbClr val="D6E2EA"/>
            </a:solidFill>
            <a:prstDash val="solid"/>
          </a:ln>
        </p:spPr>
      </p:sp>
      <p:sp>
        <p:nvSpPr>
          <p:cNvPr id="32" name="Text 29"/>
          <p:cNvSpPr/>
          <p:nvPr/>
        </p:nvSpPr>
        <p:spPr>
          <a:xfrm>
            <a:off x="6190488" y="2606040"/>
            <a:ext cx="2340864" cy="256032"/>
          </a:xfrm>
          <a:prstGeom prst="rect">
            <a:avLst/>
          </a:prstGeom>
          <a:noFill/>
          <a:ln/>
        </p:spPr>
        <p:txBody>
          <a:bodyPr wrap="square" lIns="0" tIns="0" rIns="0" bIns="0" rtlCol="0" anchor="ctr"/>
          <a:lstStyle/>
          <a:p>
            <a:pPr indent="0" marL="0">
              <a:buNone/>
            </a:pPr>
            <a:r>
              <a:rPr sz="1300" b="1">
                <a:solidFill>
                  <a:srgbClr val="F28C28"/>
                </a:solidFill>
                <a:latin typeface="Arial"/>
              </a:rPr>
              <a:t>Libraries &amp; Stack</a:t>
            </a:r>
            <a:endParaRPr lang="en-US" sz="1300" dirty="0"/>
          </a:p>
        </p:txBody>
      </p:sp>
      <p:sp>
        <p:nvSpPr>
          <p:cNvPr id="33" name="Text 30"/>
          <p:cNvSpPr/>
          <p:nvPr/>
        </p:nvSpPr>
        <p:spPr>
          <a:xfrm>
            <a:off x="6217920" y="2953512"/>
            <a:ext cx="2286000" cy="79552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Flask, XGBoost, scikit-learn, NumPy, pandas, Gunicorn.</a:t>
            </a:r>
            <a:endParaRPr lang="en-US" sz="1150" dirty="0"/>
          </a:p>
          <a:p>
            <a:r>
              <a:rPr sz="1100" b="0">
                <a:solidFill>
                  <a:srgbClr val="12304A"/>
                </a:solidFill>
                <a:latin typeface="Arial"/>
              </a:rPr>
              <a:t>* math (Shannon entropy, Haversine), Levenshtein, hashlib.</a:t>
            </a:r>
          </a:p>
          <a:p>
            <a:r>
              <a:rPr sz="1100" b="0">
                <a:solidFill>
                  <a:srgbClr val="12304A"/>
                </a:solidFill>
                <a:latin typeface="Arial"/>
              </a:rPr>
              <a:t>* Selenium, Chrome Extensions API, Chart.js, Tailwind CSS.</a:t>
            </a:r>
          </a:p>
        </p:txBody>
      </p:sp>
      <p:sp>
        <p:nvSpPr>
          <p:cNvPr id="34" name="Shape 31"/>
          <p:cNvSpPr/>
          <p:nvPr/>
        </p:nvSpPr>
        <p:spPr>
          <a:xfrm>
            <a:off x="502920" y="4114800"/>
            <a:ext cx="3886200" cy="1234440"/>
          </a:xfrm>
          <a:prstGeom prst="roundRect">
            <a:avLst>
              <a:gd name="adj" fmla="val 3704"/>
            </a:avLst>
          </a:prstGeom>
          <a:solidFill>
            <a:srgbClr val="F9FBFD"/>
          </a:solidFill>
          <a:ln w="12700">
            <a:solidFill>
              <a:srgbClr val="D6E2EA"/>
            </a:solidFill>
            <a:prstDash val="solid"/>
          </a:ln>
        </p:spPr>
      </p:sp>
      <p:sp>
        <p:nvSpPr>
          <p:cNvPr id="35" name="Text 32"/>
          <p:cNvSpPr/>
          <p:nvPr/>
        </p:nvSpPr>
        <p:spPr>
          <a:xfrm>
            <a:off x="612648" y="4206240"/>
            <a:ext cx="3666744" cy="256032"/>
          </a:xfrm>
          <a:prstGeom prst="rect">
            <a:avLst/>
          </a:prstGeom>
          <a:noFill/>
          <a:ln/>
        </p:spPr>
        <p:txBody>
          <a:bodyPr wrap="square" lIns="0" tIns="0" rIns="0" bIns="0" rtlCol="0" anchor="ctr"/>
          <a:lstStyle/>
          <a:p>
            <a:pPr indent="0" marL="0">
              <a:buNone/>
            </a:pPr>
            <a:r>
              <a:rPr sz="1300" b="1">
                <a:solidFill>
                  <a:srgbClr val="F28C28"/>
                </a:solidFill>
                <a:latin typeface="Arial"/>
              </a:rPr>
              <a:t>Communication &amp; Data Flow</a:t>
            </a:r>
            <a:endParaRPr lang="en-US" sz="1300" dirty="0"/>
          </a:p>
        </p:txBody>
      </p:sp>
      <p:sp>
        <p:nvSpPr>
          <p:cNvPr id="36" name="Text 33"/>
          <p:cNvSpPr/>
          <p:nvPr/>
        </p:nvSpPr>
        <p:spPr>
          <a:xfrm>
            <a:off x="640080" y="4553712"/>
            <a:ext cx="361188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HTTP/JSON: Browser portal &amp; extension to Flask REST API.</a:t>
            </a:r>
            <a:endParaRPr lang="en-US" sz="1150" dirty="0"/>
          </a:p>
          <a:p>
            <a:r>
              <a:rPr sz="1100" b="0">
                <a:solidFill>
                  <a:srgbClr val="12304A"/>
                </a:solidFill>
                <a:latin typeface="Arial"/>
              </a:rPr>
              <a:t>* In-memory inference: Sub-2ms end-to-end pipeline latency.</a:t>
            </a:r>
          </a:p>
          <a:p>
            <a:r>
              <a:rPr sz="1100" b="0">
                <a:solidFill>
                  <a:srgbClr val="12304A"/>
                </a:solidFill>
                <a:latin typeface="Arial"/>
              </a:rPr>
              <a:t>* WebRTC STUN IP deanonymization &amp; forensic CSV audit logs.</a:t>
            </a:r>
          </a:p>
        </p:txBody>
      </p:sp>
      <p:sp>
        <p:nvSpPr>
          <p:cNvPr id="37" name="Shape 34"/>
          <p:cNvSpPr/>
          <p:nvPr/>
        </p:nvSpPr>
        <p:spPr>
          <a:xfrm>
            <a:off x="4617720" y="4114800"/>
            <a:ext cx="4023360" cy="1234440"/>
          </a:xfrm>
          <a:prstGeom prst="roundRect">
            <a:avLst>
              <a:gd name="adj" fmla="val 3704"/>
            </a:avLst>
          </a:prstGeom>
          <a:solidFill>
            <a:srgbClr val="F9FBFD"/>
          </a:solidFill>
          <a:ln w="12700">
            <a:solidFill>
              <a:srgbClr val="D6E2EA"/>
            </a:solidFill>
            <a:prstDash val="solid"/>
          </a:ln>
        </p:spPr>
      </p:sp>
      <p:sp>
        <p:nvSpPr>
          <p:cNvPr id="38" name="Text 35"/>
          <p:cNvSpPr/>
          <p:nvPr/>
        </p:nvSpPr>
        <p:spPr>
          <a:xfrm>
            <a:off x="4727448" y="4206240"/>
            <a:ext cx="3803904" cy="256032"/>
          </a:xfrm>
          <a:prstGeom prst="rect">
            <a:avLst/>
          </a:prstGeom>
          <a:noFill/>
          <a:ln/>
        </p:spPr>
        <p:txBody>
          <a:bodyPr wrap="square" lIns="0" tIns="0" rIns="0" bIns="0" rtlCol="0" anchor="ctr"/>
          <a:lstStyle/>
          <a:p>
            <a:pPr indent="0" marL="0">
              <a:buNone/>
            </a:pPr>
            <a:r>
              <a:rPr sz="1300" b="1">
                <a:solidFill>
                  <a:srgbClr val="F28C28"/>
                </a:solidFill>
                <a:latin typeface="Arial"/>
              </a:rPr>
              <a:t>Attained deliverables</a:t>
            </a:r>
            <a:endParaRPr lang="en-US" sz="1300" dirty="0"/>
          </a:p>
        </p:txBody>
      </p:sp>
      <p:sp>
        <p:nvSpPr>
          <p:cNvPr id="39" name="Text 36"/>
          <p:cNvSpPr/>
          <p:nvPr/>
        </p:nvSpPr>
        <p:spPr>
          <a:xfrm>
            <a:off x="4754880" y="4553712"/>
            <a:ext cx="3749040" cy="70408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 Production server: 9 endpoints, 5 portals, Chrome bot extension.</a:t>
            </a:r>
            <a:endParaRPr lang="en-US" sz="1150" dirty="0"/>
          </a:p>
          <a:p>
            <a:r>
              <a:rPr sz="1100" b="0">
                <a:solidFill>
                  <a:srgbClr val="12304A"/>
                </a:solidFill>
                <a:latin typeface="Arial"/>
              </a:rPr>
              <a:t>* Verified defense: 10/10 automated benchmark test cases passing.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Results</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4251960" cy="3200400"/>
        </p:xfrm>
        <a:graphic>
          <a:graphicData uri="http://schemas.openxmlformats.org/drawingml/2006/table">
            <a:tbl>
              <a:tblPr/>
              <a:tblGrid>
                <a:gridCol w="1417320"/>
                <a:gridCol w="1417320"/>
                <a:gridCol w="1417320"/>
              </a:tblGrid>
              <a:tr h="329184">
                <a:tc>
                  <a:txBody>
                    <a:bodyPr/>
                    <a:lstStyle/>
                    <a:p>
                      <a:r>
                        <a:rPr sz="950" b="1">
                          <a:solidFill>
                            <a:srgbClr val="F28C28"/>
                          </a:solidFill>
                          <a:latin typeface="Arial"/>
                        </a:rPr>
                        <a:t>Scenario</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b="1">
                          <a:solidFill>
                            <a:srgbClr val="F28C28"/>
                          </a:solidFill>
                          <a:latin typeface="Arial"/>
                        </a:rPr>
                        <a:t>Risk P</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b="1">
                          <a:solidFill>
                            <a:srgbClr val="F28C28"/>
                          </a:solidFill>
                          <a:latin typeface="Arial"/>
                        </a:rPr>
                        <a:t>Action Taken</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Clean UPI payment</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0.0002</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Approve (Instant)</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Call + gallery QR</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0.6200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Friction (5s PIN hold)</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Collect + call scam</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0.9450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Block (Social Eng.)</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Screen share (AnyDesk)</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0.9920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Block (Remote desktop)</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Typo-squat VPA handle</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0.8950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Block (Levenshtein &gt;=0.75)</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Impossible travel (&gt;650mph)</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0.9840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Block (Spacetime Geo)</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r h="329184">
                <a:tc>
                  <a:txBody>
                    <a:bodyPr/>
                    <a:lstStyle/>
                    <a:p>
                      <a:r>
                        <a:rPr sz="950">
                          <a:solidFill>
                            <a:srgbClr val="12304A"/>
                          </a:solidFill>
                          <a:latin typeface="Arial"/>
                        </a:rPr>
                        <a:t>Bot biometrics (H &lt; 0.60)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0.9980</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c>
                  <a:txBody>
                    <a:bodyPr/>
                    <a:lstStyle/>
                    <a:p>
                      <a:r>
                        <a:rPr sz="950">
                          <a:solidFill>
                            <a:srgbClr val="12304A"/>
                          </a:solidFill>
                          <a:latin typeface="Arial"/>
                        </a:rPr>
                        <a:t>Honeypot Tarpit (2,400ms)</a:t>
                      </a:r>
                    </a:p>
                  </a:txBody>
                  <a:tcPr marL="45720" marR="45720" marT="45720" marB="45720">
                    <a:lnL w="12700" cap="flat" cmpd="sng" algn="ctr">
                      <a:solidFill>
                        <a:srgbClr val="CBD7DF"/>
                      </a:solidFill>
                      <a:prstDash val="solid"/>
                      <a:round/>
                      <a:headEnd type="none" w="med" len="med"/>
                      <a:tailEnd type="none" w="med" len="med"/>
                    </a:lnL>
                    <a:lnR w="12700" cap="flat" cmpd="sng" algn="ctr">
                      <a:solidFill>
                        <a:srgbClr val="CBD7DF"/>
                      </a:solidFill>
                      <a:prstDash val="solid"/>
                      <a:round/>
                      <a:headEnd type="none" w="med" len="med"/>
                      <a:tailEnd type="none" w="med" len="med"/>
                    </a:lnR>
                    <a:lnT w="12700" cap="flat" cmpd="sng" algn="ctr">
                      <a:solidFill>
                        <a:srgbClr val="CBD7DF"/>
                      </a:solidFill>
                      <a:prstDash val="solid"/>
                      <a:round/>
                      <a:headEnd type="none" w="med" len="med"/>
                      <a:tailEnd type="none" w="med" len="med"/>
                    </a:lnT>
                    <a:lnB w="12700" cap="flat" cmpd="sng" algn="ctr">
                      <a:solidFill>
                        <a:srgbClr val="CBD7DF"/>
                      </a:solidFill>
                      <a:prstDash val="solid"/>
                      <a:round/>
                      <a:headEnd type="none" w="med" len="med"/>
                      <a:tailEnd type="none" w="med" len="med"/>
                    </a:lnB>
                    <a:solidFill>
                      <a:srgbClr val="FFFFFF"/>
                    </a:solidFill>
                  </a:tcPr>
                </a:tc>
              </a:tr>
            </a:tbl>
          </a:graphicData>
        </a:graphic>
      </p:graphicFrame>
      <p:sp>
        <p:nvSpPr>
          <p:cNvPr id="6" name="Text 2"/>
          <p:cNvSpPr/>
          <p:nvPr/>
        </p:nvSpPr>
        <p:spPr>
          <a:xfrm>
            <a:off x="4983480" y="914400"/>
            <a:ext cx="1371600" cy="256032"/>
          </a:xfrm>
          <a:prstGeom prst="rect">
            <a:avLst/>
          </a:prstGeom>
          <a:noFill/>
          <a:ln/>
        </p:spPr>
        <p:txBody>
          <a:bodyPr wrap="square" lIns="0" tIns="0" rIns="0" bIns="0" rtlCol="0" anchor="ctr"/>
          <a:lstStyle/>
          <a:p>
            <a:pPr indent="0" marL="0">
              <a:buNone/>
            </a:pPr>
            <a:r>
              <a:rPr sz="1300" b="1">
                <a:solidFill>
                  <a:srgbClr val="F28C28"/>
                </a:solidFill>
                <a:latin typeface="Arial"/>
              </a:rPr>
              <a:t>Model &amp; Biometric Performance</a:t>
            </a:r>
            <a:endParaRPr lang="en-US" sz="1400" dirty="0"/>
          </a:p>
        </p:txBody>
      </p:sp>
      <p:sp>
        <p:nvSpPr>
          <p:cNvPr id="7" name="Text 3"/>
          <p:cNvSpPr/>
          <p:nvPr/>
        </p:nvSpPr>
        <p:spPr>
          <a:xfrm>
            <a:off x="4983480" y="1417320"/>
            <a:ext cx="822960" cy="201168"/>
          </a:xfrm>
          <a:prstGeom prst="rect">
            <a:avLst/>
          </a:prstGeom>
          <a:noFill/>
          <a:ln/>
        </p:spPr>
        <p:txBody>
          <a:bodyPr wrap="square" lIns="0" tIns="0" rIns="0" bIns="0" rtlCol="0" anchor="ctr"/>
          <a:lstStyle/>
          <a:p>
            <a:pPr indent="0" marL="0">
              <a:buNone/>
            </a:pPr>
            <a:r>
              <a:rPr sz="1100" b="0">
                <a:solidFill>
                  <a:srgbClr val="12304A"/>
                </a:solidFill>
                <a:latin typeface="Arial"/>
              </a:rPr>
              <a:t>Login Model</a:t>
            </a:r>
            <a:endParaRPr lang="en-US" sz="1100" dirty="0"/>
          </a:p>
        </p:txBody>
      </p:sp>
      <p:sp>
        <p:nvSpPr>
          <p:cNvPr id="8" name="Shape 4"/>
          <p:cNvSpPr/>
          <p:nvPr/>
        </p:nvSpPr>
        <p:spPr>
          <a:xfrm>
            <a:off x="5806440" y="1417320"/>
            <a:ext cx="2376251" cy="201168"/>
          </a:xfrm>
          <a:prstGeom prst="rect">
            <a:avLst/>
          </a:prstGeom>
          <a:solidFill>
            <a:srgbClr val="F28C28"/>
          </a:solidFill>
          <a:ln w="12700">
            <a:solidFill>
              <a:srgbClr val="F28C28"/>
            </a:solidFill>
            <a:prstDash val="solid"/>
          </a:ln>
        </p:spPr>
      </p:sp>
      <p:sp>
        <p:nvSpPr>
          <p:cNvPr id="9" name="Text 5"/>
          <p:cNvSpPr/>
          <p:nvPr/>
        </p:nvSpPr>
        <p:spPr>
          <a:xfrm>
            <a:off x="8211312" y="1417320"/>
            <a:ext cx="502920" cy="201168"/>
          </a:xfrm>
          <a:prstGeom prst="rect">
            <a:avLst/>
          </a:prstGeom>
          <a:noFill/>
          <a:ln/>
        </p:spPr>
        <p:txBody>
          <a:bodyPr wrap="square" lIns="0" tIns="0" rIns="0" bIns="0" rtlCol="0" anchor="ctr"/>
          <a:lstStyle/>
          <a:p>
            <a:pPr indent="0" marL="0">
              <a:buNone/>
            </a:pPr>
            <a:r>
              <a:rPr sz="1000" b="1">
                <a:solidFill>
                  <a:srgbClr val="12304A"/>
                </a:solidFill>
                <a:latin typeface="Arial"/>
              </a:rPr>
              <a:t>0.9995</a:t>
            </a:r>
            <a:endParaRPr lang="en-US" sz="1000" dirty="0"/>
          </a:p>
        </p:txBody>
      </p:sp>
      <p:sp>
        <p:nvSpPr>
          <p:cNvPr id="10" name="Text 6"/>
          <p:cNvSpPr/>
          <p:nvPr/>
        </p:nvSpPr>
        <p:spPr>
          <a:xfrm>
            <a:off x="4983480" y="2075688"/>
            <a:ext cx="822960" cy="201168"/>
          </a:xfrm>
          <a:prstGeom prst="rect">
            <a:avLst/>
          </a:prstGeom>
          <a:noFill/>
          <a:ln/>
        </p:spPr>
        <p:txBody>
          <a:bodyPr wrap="square" lIns="0" tIns="0" rIns="0" bIns="0" rtlCol="0" anchor="ctr"/>
          <a:lstStyle/>
          <a:p>
            <a:pPr indent="0" marL="0">
              <a:buNone/>
            </a:pPr>
            <a:r>
              <a:rPr sz="1100" b="0">
                <a:solidFill>
                  <a:srgbClr val="12304A"/>
                </a:solidFill>
                <a:latin typeface="Arial"/>
              </a:rPr>
              <a:t>Card Model</a:t>
            </a:r>
            <a:endParaRPr lang="en-US" sz="1100" dirty="0"/>
          </a:p>
        </p:txBody>
      </p:sp>
      <p:sp>
        <p:nvSpPr>
          <p:cNvPr id="11" name="Shape 7"/>
          <p:cNvSpPr/>
          <p:nvPr/>
        </p:nvSpPr>
        <p:spPr>
          <a:xfrm>
            <a:off x="5806440" y="2075688"/>
            <a:ext cx="2377440" cy="201168"/>
          </a:xfrm>
          <a:prstGeom prst="rect">
            <a:avLst/>
          </a:prstGeom>
          <a:solidFill>
            <a:srgbClr val="F28C28"/>
          </a:solidFill>
          <a:ln w="12700">
            <a:solidFill>
              <a:srgbClr val="F28C28"/>
            </a:solidFill>
            <a:prstDash val="solid"/>
          </a:ln>
        </p:spPr>
      </p:sp>
      <p:sp>
        <p:nvSpPr>
          <p:cNvPr id="12" name="Text 8"/>
          <p:cNvSpPr/>
          <p:nvPr/>
        </p:nvSpPr>
        <p:spPr>
          <a:xfrm>
            <a:off x="8211312" y="2075688"/>
            <a:ext cx="502920" cy="201168"/>
          </a:xfrm>
          <a:prstGeom prst="rect">
            <a:avLst/>
          </a:prstGeom>
          <a:noFill/>
          <a:ln/>
        </p:spPr>
        <p:txBody>
          <a:bodyPr wrap="square" lIns="0" tIns="0" rIns="0" bIns="0" rtlCol="0" anchor="ctr"/>
          <a:lstStyle/>
          <a:p>
            <a:pPr indent="0" marL="0">
              <a:buNone/>
            </a:pPr>
            <a:r>
              <a:rPr sz="1000" b="1">
                <a:solidFill>
                  <a:srgbClr val="12304A"/>
                </a:solidFill>
                <a:latin typeface="Arial"/>
              </a:rPr>
              <a:t>1.0000</a:t>
            </a:r>
            <a:endParaRPr lang="en-US" sz="1000" dirty="0"/>
          </a:p>
        </p:txBody>
      </p:sp>
      <p:sp>
        <p:nvSpPr>
          <p:cNvPr id="13" name="Text 9"/>
          <p:cNvSpPr/>
          <p:nvPr/>
        </p:nvSpPr>
        <p:spPr>
          <a:xfrm>
            <a:off x="4983480" y="2734056"/>
            <a:ext cx="822960" cy="201168"/>
          </a:xfrm>
          <a:prstGeom prst="rect">
            <a:avLst/>
          </a:prstGeom>
          <a:noFill/>
          <a:ln/>
        </p:spPr>
        <p:txBody>
          <a:bodyPr wrap="square" lIns="0" tIns="0" rIns="0" bIns="0" rtlCol="0" anchor="ctr"/>
          <a:lstStyle/>
          <a:p>
            <a:pPr indent="0" marL="0">
              <a:buNone/>
            </a:pPr>
            <a:r>
              <a:rPr sz="1100" b="0">
                <a:solidFill>
                  <a:srgbClr val="12304A"/>
                </a:solidFill>
                <a:latin typeface="Arial"/>
              </a:rPr>
              <a:t>Unified UPI</a:t>
            </a:r>
            <a:endParaRPr lang="en-US" sz="1100" dirty="0"/>
          </a:p>
        </p:txBody>
      </p:sp>
      <p:sp>
        <p:nvSpPr>
          <p:cNvPr id="14" name="Shape 10"/>
          <p:cNvSpPr/>
          <p:nvPr/>
        </p:nvSpPr>
        <p:spPr>
          <a:xfrm>
            <a:off x="5806440" y="2734056"/>
            <a:ext cx="2377440" cy="201168"/>
          </a:xfrm>
          <a:prstGeom prst="rect">
            <a:avLst/>
          </a:prstGeom>
          <a:solidFill>
            <a:srgbClr val="F28C28"/>
          </a:solidFill>
          <a:ln w="12700">
            <a:solidFill>
              <a:srgbClr val="F28C28"/>
            </a:solidFill>
            <a:prstDash val="solid"/>
          </a:ln>
        </p:spPr>
      </p:sp>
      <p:sp>
        <p:nvSpPr>
          <p:cNvPr id="15" name="Text 11"/>
          <p:cNvSpPr/>
          <p:nvPr/>
        </p:nvSpPr>
        <p:spPr>
          <a:xfrm>
            <a:off x="8211312" y="2734056"/>
            <a:ext cx="502920" cy="201168"/>
          </a:xfrm>
          <a:prstGeom prst="rect">
            <a:avLst/>
          </a:prstGeom>
          <a:noFill/>
          <a:ln/>
        </p:spPr>
        <p:txBody>
          <a:bodyPr wrap="square" lIns="0" tIns="0" rIns="0" bIns="0" rtlCol="0" anchor="ctr"/>
          <a:lstStyle/>
          <a:p>
            <a:pPr indent="0" marL="0">
              <a:buNone/>
            </a:pPr>
            <a:r>
              <a:rPr sz="1000" b="1">
                <a:solidFill>
                  <a:srgbClr val="12304A"/>
                </a:solidFill>
                <a:latin typeface="Arial"/>
              </a:rPr>
              <a:t>1.0000</a:t>
            </a:r>
            <a:endParaRPr lang="en-US" sz="1000" dirty="0"/>
          </a:p>
        </p:txBody>
      </p:sp>
      <p:sp>
        <p:nvSpPr>
          <p:cNvPr id="16" name="Text 12"/>
          <p:cNvSpPr/>
          <p:nvPr/>
        </p:nvSpPr>
        <p:spPr>
          <a:xfrm>
            <a:off x="4983480" y="3429000"/>
            <a:ext cx="3611880" cy="548640"/>
          </a:xfrm>
          <a:prstGeom prst="rect">
            <a:avLst/>
          </a:prstGeom>
          <a:noFill/>
          <a:ln/>
        </p:spPr>
        <p:txBody>
          <a:bodyPr wrap="square" lIns="0" tIns="0" rIns="0" bIns="0" rtlCol="0" anchor="ctr"/>
          <a:lstStyle/>
          <a:p>
            <a:pPr indent="0" marL="0">
              <a:buNone/>
            </a:pPr>
            <a:r>
              <a:rPr sz="1000" b="1">
                <a:solidFill>
                  <a:srgbClr val="444444"/>
                </a:solidFill>
                <a:latin typeface="Arial"/>
              </a:rPr>
              <a:t>Benchmark validation: 100.00% accuracy on test_bot_csv.py (10/10 test traces separated).</a:t>
            </a:r>
            <a:endParaRPr lang="en-US" sz="1050" dirty="0"/>
          </a:p>
        </p:txBody>
      </p:sp>
      <p:sp>
        <p:nvSpPr>
          <p:cNvPr id="17" name="Shape 13"/>
          <p:cNvSpPr/>
          <p:nvPr/>
        </p:nvSpPr>
        <p:spPr>
          <a:xfrm>
            <a:off x="502920" y="4572000"/>
            <a:ext cx="3794760" cy="1051560"/>
          </a:xfrm>
          <a:prstGeom prst="roundRect">
            <a:avLst>
              <a:gd name="adj" fmla="val 4348"/>
            </a:avLst>
          </a:prstGeom>
          <a:solidFill>
            <a:srgbClr val="F9FBFD"/>
          </a:solidFill>
          <a:ln w="12700">
            <a:solidFill>
              <a:srgbClr val="D6E2EA"/>
            </a:solidFill>
            <a:prstDash val="solid"/>
          </a:ln>
        </p:spPr>
      </p:sp>
      <p:sp>
        <p:nvSpPr>
          <p:cNvPr id="18" name="Text 14"/>
          <p:cNvSpPr/>
          <p:nvPr/>
        </p:nvSpPr>
        <p:spPr>
          <a:xfrm>
            <a:off x="612648" y="4663440"/>
            <a:ext cx="3575304" cy="256032"/>
          </a:xfrm>
          <a:prstGeom prst="rect">
            <a:avLst/>
          </a:prstGeom>
          <a:noFill/>
          <a:ln/>
        </p:spPr>
        <p:txBody>
          <a:bodyPr wrap="square" lIns="0" tIns="0" rIns="0" bIns="0" rtlCol="0" anchor="ctr"/>
          <a:lstStyle/>
          <a:p>
            <a:pPr indent="0" marL="0">
              <a:buNone/>
            </a:pPr>
            <a:r>
              <a:rPr sz="1300" b="1">
                <a:solidFill>
                  <a:srgbClr val="F28C28"/>
                </a:solidFill>
                <a:latin typeface="Arial"/>
              </a:rPr>
              <a:t>Rule-only / Traditional WAF</a:t>
            </a:r>
            <a:endParaRPr lang="en-US" sz="1300" dirty="0"/>
          </a:p>
        </p:txBody>
      </p:sp>
      <p:sp>
        <p:nvSpPr>
          <p:cNvPr id="19" name="Text 15"/>
          <p:cNvSpPr/>
          <p:nvPr/>
        </p:nvSpPr>
        <p:spPr>
          <a:xfrm>
            <a:off x="640080" y="5010912"/>
            <a:ext cx="352044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Rigid binary decline; zero behavioral context; immediate 403 Forbidden alerts bots to rotate residential proxies.</a:t>
            </a:r>
            <a:endParaRPr lang="en-US" sz="1150" dirty="0"/>
          </a:p>
        </p:txBody>
      </p:sp>
      <p:sp>
        <p:nvSpPr>
          <p:cNvPr id="20" name="Shape 16"/>
          <p:cNvSpPr/>
          <p:nvPr/>
        </p:nvSpPr>
        <p:spPr>
          <a:xfrm>
            <a:off x="4572000" y="4572000"/>
            <a:ext cx="3794760" cy="1051560"/>
          </a:xfrm>
          <a:prstGeom prst="roundRect">
            <a:avLst>
              <a:gd name="adj" fmla="val 4348"/>
            </a:avLst>
          </a:prstGeom>
          <a:solidFill>
            <a:srgbClr val="F9FBFD"/>
          </a:solidFill>
          <a:ln w="12700">
            <a:solidFill>
              <a:srgbClr val="D6E2EA"/>
            </a:solidFill>
            <a:prstDash val="solid"/>
          </a:ln>
        </p:spPr>
      </p:sp>
      <p:sp>
        <p:nvSpPr>
          <p:cNvPr id="21" name="Text 17"/>
          <p:cNvSpPr/>
          <p:nvPr/>
        </p:nvSpPr>
        <p:spPr>
          <a:xfrm>
            <a:off x="4681728" y="4663440"/>
            <a:ext cx="3575304" cy="256032"/>
          </a:xfrm>
          <a:prstGeom prst="rect">
            <a:avLst/>
          </a:prstGeom>
          <a:noFill/>
          <a:ln/>
        </p:spPr>
        <p:txBody>
          <a:bodyPr wrap="square" lIns="0" tIns="0" rIns="0" bIns="0" rtlCol="0" anchor="ctr"/>
          <a:lstStyle/>
          <a:p>
            <a:pPr indent="0" marL="0">
              <a:buNone/>
            </a:pPr>
            <a:r>
              <a:rPr sz="1300" b="1">
                <a:solidFill>
                  <a:srgbClr val="F28C28"/>
                </a:solidFill>
                <a:latin typeface="Arial"/>
              </a:rPr>
              <a:t>Project Aegis Platform</a:t>
            </a:r>
            <a:endParaRPr lang="en-US" sz="1300" dirty="0"/>
          </a:p>
        </p:txBody>
      </p:sp>
      <p:sp>
        <p:nvSpPr>
          <p:cNvPr id="22" name="Text 18"/>
          <p:cNvSpPr/>
          <p:nvPr/>
        </p:nvSpPr>
        <p:spPr>
          <a:xfrm>
            <a:off x="4709160" y="5010912"/>
            <a:ext cx="3520440" cy="521208"/>
          </a:xfrm>
          <a:prstGeom prst="rect">
            <a:avLst/>
          </a:prstGeom>
          <a:noFill/>
          <a:ln/>
        </p:spPr>
        <p:txBody>
          <a:bodyPr wrap="square" lIns="254" tIns="254" rIns="254" bIns="254" rtlCol="0" anchor="ctr">
            <a:normAutofit/>
          </a:bodyPr>
          <a:lstStyle/>
          <a:p>
            <a:pPr marL="127000" indent="-127000">
              <a:buSzPct val="100000"/>
              <a:buChar char="•"/>
            </a:pPr>
            <a:r>
              <a:rPr sz="1100" b="0">
                <a:solidFill>
                  <a:srgbClr val="12304A"/>
                </a:solidFill>
                <a:latin typeface="Arial"/>
              </a:rPr>
              <a:t>Multi-modal context fusion; proportionate 4-tier enforcement; 2,400ms PoW tarpit stalls bots and logs mule forensics.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Conclusion</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594360" y="914400"/>
            <a:ext cx="2560320" cy="320040"/>
          </a:xfrm>
          <a:prstGeom prst="rect">
            <a:avLst/>
          </a:prstGeom>
          <a:noFill/>
          <a:ln/>
        </p:spPr>
        <p:txBody>
          <a:bodyPr wrap="square" lIns="0" tIns="0" rIns="0" bIns="0" rtlCol="0" anchor="ctr"/>
          <a:lstStyle/>
          <a:p>
            <a:pPr indent="0" marL="0">
              <a:buNone/>
            </a:pPr>
            <a:r>
              <a:rPr sz="1600" b="1">
                <a:solidFill>
                  <a:srgbClr val="F28C28"/>
                </a:solidFill>
                <a:latin typeface="Arial"/>
              </a:rPr>
              <a:t>Justification of Objectives</a:t>
            </a:r>
            <a:endParaRPr lang="en-US" sz="1600" dirty="0"/>
          </a:p>
        </p:txBody>
      </p:sp>
      <p:sp>
        <p:nvSpPr>
          <p:cNvPr id="6" name="Text 3"/>
          <p:cNvSpPr/>
          <p:nvPr/>
        </p:nvSpPr>
        <p:spPr>
          <a:xfrm>
            <a:off x="777240" y="1325880"/>
            <a:ext cx="7498080" cy="1554480"/>
          </a:xfrm>
          <a:prstGeom prst="rect">
            <a:avLst/>
          </a:prstGeom>
          <a:noFill/>
          <a:ln/>
        </p:spPr>
        <p:txBody>
          <a:bodyPr wrap="square" lIns="635" tIns="635" rIns="635" bIns="635" rtlCol="0" anchor="ctr">
            <a:normAutofit/>
          </a:bodyPr>
          <a:lstStyle/>
          <a:p>
            <a:pPr marL="177800" indent="-177800">
              <a:buSzPct val="100000"/>
              <a:buChar char="•"/>
            </a:pPr>
            <a:r>
              <a:rPr sz="1250" b="0">
                <a:solidFill>
                  <a:srgbClr val="12304A"/>
                </a:solidFill>
                <a:latin typeface="Arial"/>
              </a:rPr>
              <a:t>Complete defense verification: All 8 real-time attack scenarios executed intended proportionate responses without false positives.</a:t>
            </a:r>
            <a:endParaRPr lang="en-US" sz="1600" dirty="0"/>
          </a:p>
          <a:p>
            <a:r>
              <a:rPr sz="1250" b="0">
                <a:solidFill>
                  <a:srgbClr val="12304A"/>
                </a:solidFill>
                <a:latin typeface="Arial"/>
              </a:rPr>
              <a:t>Unified multi-modal intelligence successfully fuses 3 XGBoost models, 60Hz client biometrics, and heuristic rules.</a:t>
            </a:r>
          </a:p>
          <a:p>
            <a:r>
              <a:rPr sz="1250" b="0">
                <a:solidFill>
                  <a:srgbClr val="12304A"/>
                </a:solidFill>
                <a:latin typeface="Arial"/>
              </a:rPr>
              <a:t>Validated deceptive honeypot tarpit: neutralized automated bot attacks, stalled attackers for 2,400ms, and captured IP &amp; mule audit trails.</a:t>
            </a:r>
          </a:p>
          <a:p>
            <a:r>
              <a:rPr sz="1250" b="0">
                <a:solidFill>
                  <a:srgbClr val="12304A"/>
                </a:solidFill>
                <a:latin typeface="Arial"/>
              </a:rPr>
              <a:t>100.00% benchmark trace accuracy achieved on test_bot_csv.py; fully demonstrated live in VS Code and Chrome extension.</a:t>
            </a:r>
          </a:p>
        </p:txBody>
      </p:sp>
      <p:sp>
        <p:nvSpPr>
          <p:cNvPr id="7" name="Text 4"/>
          <p:cNvSpPr/>
          <p:nvPr/>
        </p:nvSpPr>
        <p:spPr>
          <a:xfrm>
            <a:off x="594360" y="3154680"/>
            <a:ext cx="1828800" cy="320040"/>
          </a:xfrm>
          <a:prstGeom prst="rect">
            <a:avLst/>
          </a:prstGeom>
          <a:noFill/>
          <a:ln/>
        </p:spPr>
        <p:txBody>
          <a:bodyPr wrap="square" lIns="0" tIns="0" rIns="0" bIns="0" rtlCol="0" anchor="ctr"/>
          <a:lstStyle/>
          <a:p>
            <a:pPr indent="0" marL="0">
              <a:buNone/>
            </a:pPr>
            <a:r>
              <a:rPr sz="1600" b="1">
                <a:solidFill>
                  <a:srgbClr val="F28C28"/>
                </a:solidFill>
                <a:latin typeface="Arial"/>
              </a:rPr>
              <a:t>Future Scope</a:t>
            </a:r>
            <a:endParaRPr lang="en-US" sz="1600" dirty="0"/>
          </a:p>
        </p:txBody>
      </p:sp>
      <p:sp>
        <p:nvSpPr>
          <p:cNvPr id="8" name="Text 5"/>
          <p:cNvSpPr/>
          <p:nvPr/>
        </p:nvSpPr>
        <p:spPr>
          <a:xfrm>
            <a:off x="777240" y="3566160"/>
            <a:ext cx="7498080" cy="1828800"/>
          </a:xfrm>
          <a:prstGeom prst="rect">
            <a:avLst/>
          </a:prstGeom>
          <a:noFill/>
          <a:ln/>
        </p:spPr>
        <p:txBody>
          <a:bodyPr wrap="square" lIns="635" tIns="635" rIns="635" bIns="635" rtlCol="0" anchor="ctr">
            <a:normAutofit/>
          </a:bodyPr>
          <a:lstStyle/>
          <a:p>
            <a:pPr marL="177800" indent="-177800">
              <a:buSzPct val="100000"/>
              <a:buChar char="•"/>
            </a:pPr>
            <a:r>
              <a:rPr sz="1250" b="0">
                <a:solidFill>
                  <a:srgbClr val="12304A"/>
                </a:solidFill>
                <a:latin typeface="Arial"/>
              </a:rPr>
              <a:t>Partner with banking PSPs and payment gateways to evaluate live production traffic under real-world drift.</a:t>
            </a:r>
            <a:endParaRPr lang="en-US" sz="1500" dirty="0"/>
          </a:p>
          <a:p>
            <a:r>
              <a:rPr sz="1250" b="0">
                <a:solidFill>
                  <a:srgbClr val="12304A"/>
                </a:solidFill>
                <a:latin typeface="Arial"/>
              </a:rPr>
              <a:t>Deploy signed client SDK telemetry modules for native Android and iOS mobile UPI banking applications.</a:t>
            </a:r>
          </a:p>
          <a:p>
            <a:r>
              <a:rPr sz="1250" b="0">
                <a:solidFill>
                  <a:srgbClr val="12304A"/>
                </a:solidFill>
                <a:latin typeface="Arial"/>
              </a:rPr>
              <a:t>Construct Graph Neural Network (GNN) intelligence for tracking multi-hop money-mule syndicate networks.</a:t>
            </a:r>
          </a:p>
          <a:p>
            <a:r>
              <a:rPr sz="1250" b="0">
                <a:solidFill>
                  <a:srgbClr val="12304A"/>
                </a:solidFill>
                <a:latin typeface="Arial"/>
              </a:rPr>
              <a:t>Implement ONNX Runtime quantization for sub-millisecond edge model inference and distributed tarpit scaling.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r>
              <a:rPr sz="1700" b="1">
                <a:solidFill>
                  <a:srgbClr val="2EA3F2"/>
                </a:solidFill>
                <a:latin typeface="Arial"/>
              </a:rPr>
              <a:t>Reference</a:t>
            </a: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sp>
        <p:nvSpPr>
          <p:cNvPr id="5" name="Text 2"/>
          <p:cNvSpPr/>
          <p:nvPr/>
        </p:nvSpPr>
        <p:spPr>
          <a:xfrm>
            <a:off x="594360" y="960120"/>
            <a:ext cx="2011680" cy="274320"/>
          </a:xfrm>
          <a:prstGeom prst="rect">
            <a:avLst/>
          </a:prstGeom>
          <a:noFill/>
          <a:ln/>
        </p:spPr>
        <p:txBody>
          <a:bodyPr wrap="square" lIns="0" tIns="0" rIns="0" bIns="0" rtlCol="0" anchor="ctr"/>
          <a:lstStyle/>
          <a:p>
            <a:pPr indent="0" marL="0">
              <a:buNone/>
            </a:pPr>
            <a:r>
              <a:rPr sz="1400" b="1">
                <a:solidFill>
                  <a:srgbClr val="F28C28"/>
                </a:solidFill>
                <a:latin typeface="Arial"/>
              </a:rPr>
              <a:t>A: Research Specifications &amp; Artifacts</a:t>
            </a:r>
            <a:endParaRPr lang="en-US" sz="1400" dirty="0"/>
          </a:p>
        </p:txBody>
      </p:sp>
      <p:sp>
        <p:nvSpPr>
          <p:cNvPr id="6" name="Text 3"/>
          <p:cNvSpPr/>
          <p:nvPr/>
        </p:nvSpPr>
        <p:spPr>
          <a:xfrm>
            <a:off x="777240" y="1353312"/>
            <a:ext cx="1828800" cy="274320"/>
          </a:xfrm>
          <a:prstGeom prst="rect">
            <a:avLst/>
          </a:prstGeom>
          <a:noFill/>
          <a:ln/>
        </p:spPr>
        <p:txBody>
          <a:bodyPr wrap="square" lIns="0" tIns="0" rIns="0" bIns="0" rtlCol="0" anchor="ctr"/>
          <a:lstStyle/>
          <a:p>
            <a:pPr indent="0" marL="0">
              <a:buNone/>
            </a:pPr>
            <a:r>
              <a:rPr sz="1250" b="0">
                <a:solidFill>
                  <a:srgbClr val="12304A"/>
                </a:solidFill>
                <a:latin typeface="Arial"/>
              </a:rPr>
              <a:t>Project Aegis System Architecture &amp; Gap Analysis Specifications, UPES (October 2026).</a:t>
            </a:r>
            <a:endParaRPr lang="en-US" sz="1300" dirty="0"/>
          </a:p>
        </p:txBody>
      </p:sp>
      <p:sp>
        <p:nvSpPr>
          <p:cNvPr id="7" name="Text 4"/>
          <p:cNvSpPr/>
          <p:nvPr/>
        </p:nvSpPr>
        <p:spPr>
          <a:xfrm>
            <a:off x="594360" y="1874520"/>
            <a:ext cx="3291840" cy="274320"/>
          </a:xfrm>
          <a:prstGeom prst="rect">
            <a:avLst/>
          </a:prstGeom>
          <a:noFill/>
          <a:ln/>
        </p:spPr>
        <p:txBody>
          <a:bodyPr wrap="square" lIns="0" tIns="0" rIns="0" bIns="0" rtlCol="0" anchor="ctr"/>
          <a:lstStyle/>
          <a:p>
            <a:pPr indent="0" marL="0">
              <a:buNone/>
            </a:pPr>
            <a:r>
              <a:rPr sz="1400" b="1">
                <a:solidFill>
                  <a:srgbClr val="F28C28"/>
                </a:solidFill>
                <a:latin typeface="Arial"/>
              </a:rPr>
              <a:t>B: List of Cited Standards &amp; Research Literature</a:t>
            </a:r>
            <a:endParaRPr lang="en-US" sz="1400" dirty="0"/>
          </a:p>
        </p:txBody>
      </p:sp>
      <p:sp>
        <p:nvSpPr>
          <p:cNvPr id="8" name="Text 5"/>
          <p:cNvSpPr/>
          <p:nvPr/>
        </p:nvSpPr>
        <p:spPr>
          <a:xfrm>
            <a:off x="777240" y="2267712"/>
            <a:ext cx="7406640" cy="2926080"/>
          </a:xfrm>
          <a:prstGeom prst="rect">
            <a:avLst/>
          </a:prstGeom>
          <a:noFill/>
          <a:ln/>
        </p:spPr>
        <p:txBody>
          <a:bodyPr wrap="square" lIns="635" tIns="635" rIns="635" bIns="635" rtlCol="0" anchor="ctr">
            <a:normAutofit/>
          </a:bodyPr>
          <a:lstStyle/>
          <a:p>
            <a:pPr marL="177800" indent="-177800">
              <a:buSzPct val="100000"/>
              <a:buChar char="•"/>
            </a:pPr>
            <a:r>
              <a:rPr sz="1150" b="0">
                <a:solidFill>
                  <a:srgbClr val="12304A"/>
                </a:solidFill>
                <a:latin typeface="Arial"/>
              </a:rPr>
              <a:t>Shannon, C.E. (1948). A Mathematical Theory of Communication. Bell System Technical Journal, 27(3), 379-423.</a:t>
            </a:r>
            <a:endParaRPr lang="en-US" sz="1400" dirty="0"/>
          </a:p>
          <a:p>
            <a:r>
              <a:rPr sz="1150" b="0">
                <a:solidFill>
                  <a:srgbClr val="12304A"/>
                </a:solidFill>
                <a:latin typeface="Arial"/>
              </a:rPr>
              <a:t>Chen, T., &amp; Guestrin, C. (2016). XGBoost: A Scalable Tree Boosting System. ACM SIGKDD, 785-794.</a:t>
            </a:r>
          </a:p>
          <a:p>
            <a:r>
              <a:rPr sz="1150" b="0">
                <a:solidFill>
                  <a:srgbClr val="12304A"/>
                </a:solidFill>
                <a:latin typeface="Arial"/>
              </a:rPr>
              <a:t>Levenshtein, V.I. (1966). Binary codes capable of correcting deletions, insertions, and reversals. Soviet Physics Doklady.</a:t>
            </a:r>
          </a:p>
          <a:p>
            <a:r>
              <a:rPr sz="1150" b="0">
                <a:solidFill>
                  <a:srgbClr val="12304A"/>
                </a:solidFill>
                <a:latin typeface="Arial"/>
              </a:rPr>
              <a:t>Sinnott, R.W. (1984). Virtues of the Haversine. Sky and Telescope, 68(2), 159.</a:t>
            </a:r>
          </a:p>
          <a:p>
            <a:r>
              <a:rPr sz="1150" b="0">
                <a:solidFill>
                  <a:srgbClr val="12304A"/>
                </a:solidFill>
                <a:latin typeface="Arial"/>
              </a:rPr>
              <a:t>Chawla, N.V., et al. (2002). SMOTE: Synthetic Minority Over-sampling Technique. JAIR, 16, 321-357.</a:t>
            </a:r>
          </a:p>
          <a:p>
            <a:r>
              <a:rPr sz="1150" b="0">
                <a:solidFill>
                  <a:srgbClr val="12304A"/>
                </a:solidFill>
                <a:latin typeface="Arial"/>
              </a:rPr>
              <a:t>Reserve Bank of India (2021). Master Directions on Digital Payment Security Controls; DPDP Act (2023); NPCI UPI Guidelines.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6711696"/>
          </a:xfrm>
          <a:prstGeom prst="rect">
            <a:avLst/>
          </a:prstGeom>
          <a:solidFill>
            <a:srgbClr val="FFFFFF">
              <a:alpha val="0"/>
            </a:srgbClr>
          </a:solidFill>
          <a:ln w="15240">
            <a:solidFill>
              <a:srgbClr val="6BBBEF"/>
            </a:solidFill>
            <a:prstDash val="solid"/>
          </a:ln>
        </p:spPr>
      </p:sp>
      <p:sp>
        <p:nvSpPr>
          <p:cNvPr id="3" name="Text 1"/>
          <p:cNvSpPr/>
          <p:nvPr/>
        </p:nvSpPr>
        <p:spPr>
          <a:xfrm>
            <a:off x="292608" y="256032"/>
            <a:ext cx="5029200" cy="320040"/>
          </a:xfrm>
          <a:prstGeom prst="rect">
            <a:avLst/>
          </a:prstGeom>
          <a:noFill/>
          <a:ln/>
        </p:spPr>
        <p:txBody>
          <a:bodyPr wrap="square" lIns="0" tIns="0" rIns="0" bIns="0" rtlCol="0" anchor="ctr"/>
          <a:lstStyle/>
          <a:p>
            <a:pPr indent="0" marL="0">
              <a:buNone/>
            </a:pPr>
            <a:endParaRPr lang="en-US" sz="1700" dirty="0"/>
          </a:p>
        </p:txBody>
      </p:sp>
      <p:pic>
        <p:nvPicPr>
          <p:cNvPr id="4" name="Image 0" descr="/mnt/data/midterm_work/tpl/ppt/media/image2.png">    </p:cNvPr>
          <p:cNvPicPr>
            <a:picLocks noChangeAspect="1"/>
          </p:cNvPicPr>
          <p:nvPr/>
        </p:nvPicPr>
        <p:blipFill>
          <a:blip r:embed="rId1"/>
          <a:stretch>
            <a:fillRect/>
          </a:stretch>
        </p:blipFill>
        <p:spPr>
          <a:xfrm>
            <a:off x="8366760" y="164592"/>
            <a:ext cx="566928" cy="292608"/>
          </a:xfrm>
          <a:prstGeom prst="rect">
            <a:avLst/>
          </a:prstGeom>
        </p:spPr>
      </p:pic>
      <p:pic>
        <p:nvPicPr>
          <p:cNvPr id="5" name="Image 1" descr="/mnt/data/midterm_work/tpl/ppt/media/image2.png">    </p:cNvPr>
          <p:cNvPicPr>
            <a:picLocks noChangeAspect="1"/>
          </p:cNvPicPr>
          <p:nvPr/>
        </p:nvPicPr>
        <p:blipFill>
          <a:blip r:embed="rId2"/>
          <a:stretch>
            <a:fillRect/>
          </a:stretch>
        </p:blipFill>
        <p:spPr>
          <a:xfrm>
            <a:off x="3383280" y="2057400"/>
            <a:ext cx="2377440" cy="1188720"/>
          </a:xfrm>
          <a:prstGeom prst="rect">
            <a:avLst/>
          </a:prstGeom>
        </p:spPr>
      </p:pic>
      <p:sp>
        <p:nvSpPr>
          <p:cNvPr id="6" name="Text 2"/>
          <p:cNvSpPr/>
          <p:nvPr/>
        </p:nvSpPr>
        <p:spPr>
          <a:xfrm>
            <a:off x="2377440" y="3703320"/>
            <a:ext cx="4389120" cy="594360"/>
          </a:xfrm>
          <a:prstGeom prst="rect">
            <a:avLst/>
          </a:prstGeom>
          <a:noFill/>
          <a:ln/>
        </p:spPr>
        <p:txBody>
          <a:bodyPr wrap="square" lIns="0" tIns="0" rIns="0" bIns="0" rtlCol="0" anchor="ctr"/>
          <a:lstStyle/>
          <a:p>
            <a:pPr algn="ctr" indent="0" marL="0">
              <a:buNone/>
            </a:pPr>
            <a:r>
              <a:rPr sz="3200" b="1">
                <a:solidFill>
                  <a:srgbClr val="12304A"/>
                </a:solidFill>
                <a:latin typeface="Arial"/>
              </a:rPr>
              <a:t>Thank You</a:t>
            </a:r>
            <a:endParaRPr lang="en-US" sz="3200" dirty="0"/>
          </a:p>
        </p:txBody>
      </p:sp>
      <p:sp>
        <p:nvSpPr>
          <p:cNvPr id="7" name="Text 3"/>
          <p:cNvSpPr/>
          <p:nvPr/>
        </p:nvSpPr>
        <p:spPr>
          <a:xfrm>
            <a:off x="2834640" y="4434840"/>
            <a:ext cx="3474720" cy="320040"/>
          </a:xfrm>
          <a:prstGeom prst="rect">
            <a:avLst/>
          </a:prstGeom>
          <a:noFill/>
          <a:ln/>
        </p:spPr>
        <p:txBody>
          <a:bodyPr wrap="square" lIns="0" tIns="0" rIns="0" bIns="0" rtlCol="0" anchor="ctr"/>
          <a:lstStyle/>
          <a:p>
            <a:pPr algn="ctr" indent="0" marL="0">
              <a:buNone/>
            </a:pPr>
            <a:r>
              <a:rPr sz="1500" b="1">
                <a:solidFill>
                  <a:srgbClr val="F28C28"/>
                </a:solidFill>
                <a:latin typeface="Arial"/>
              </a:rPr>
              <a:t>Questions &amp; Live Demonstration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Aegis</dc:title>
  <dc:subject>Mid-Term Project Presentation</dc:subject>
  <dc:creator>Project Aegis Team</dc:creator>
  <cp:lastModifiedBy>Project Aegis Team</cp:lastModifiedBy>
  <cp:revision>1</cp:revision>
  <dcterms:created xsi:type="dcterms:W3CDTF">2026-10-09T04:22:32Z</dcterms:created>
  <dcterms:modified xsi:type="dcterms:W3CDTF">2026-10-09T04:22:32Z</dcterms:modified>
</cp:coreProperties>
</file>